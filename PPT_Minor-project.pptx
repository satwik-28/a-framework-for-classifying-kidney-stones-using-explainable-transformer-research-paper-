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Calibri (MS) Bold" charset="1" panose="020F0702030404030204"/>
      <p:regular r:id="rId20"/>
    </p:embeddedFont>
    <p:embeddedFont>
      <p:font typeface="Calibri (MS) Italics" charset="1" panose="020F05020202040A0204"/>
      <p:regular r:id="rId21"/>
    </p:embeddedFont>
    <p:embeddedFont>
      <p:font typeface="Calibri (MS)" charset="1" panose="020F0502020204030204"/>
      <p:regular r:id="rId22"/>
    </p:embeddedFont>
    <p:embeddedFont>
      <p:font typeface="Canva Sans" charset="1" panose="020B0503030501040103"/>
      <p:regular r:id="rId23"/>
    </p:embeddedFont>
    <p:embeddedFont>
      <p:font typeface="Courier New Italics" charset="1" panose="02070409020205090404"/>
      <p:regular r:id="rId24"/>
    </p:embeddedFont>
    <p:embeddedFont>
      <p:font typeface="Canva Sans Bold" charset="1" panose="020B08030305010401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jpeg" Type="http://schemas.openxmlformats.org/officeDocument/2006/relationships/image"/><Relationship Id="rId11" Target="../media/image12.jpeg" Type="http://schemas.openxmlformats.org/officeDocument/2006/relationships/image"/><Relationship Id="rId12" Target="../media/image13.jpeg" Type="http://schemas.openxmlformats.org/officeDocument/2006/relationships/image"/><Relationship Id="rId13" Target="../media/image14.jpeg" Type="http://schemas.openxmlformats.org/officeDocument/2006/relationships/image"/><Relationship Id="rId2" Target="../media/image2.jpeg" Type="http://schemas.openxmlformats.org/officeDocument/2006/relationships/image"/><Relationship Id="rId3" Target="../media/image1.pn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Relationship Id="rId6" Target="../media/image7.jpeg" Type="http://schemas.openxmlformats.org/officeDocument/2006/relationships/image"/><Relationship Id="rId7" Target="../media/image8.jpeg" Type="http://schemas.openxmlformats.org/officeDocument/2006/relationships/image"/><Relationship Id="rId8" Target="../media/image9.jpeg" Type="http://schemas.openxmlformats.org/officeDocument/2006/relationships/image"/><Relationship Id="rId9" Target="../media/image10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.png" Type="http://schemas.openxmlformats.org/officeDocument/2006/relationships/image"/><Relationship Id="rId4" Target="../media/image1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.png" Type="http://schemas.openxmlformats.org/officeDocument/2006/relationships/image"/><Relationship Id="rId4" Target="../media/image18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.png" Type="http://schemas.openxmlformats.org/officeDocument/2006/relationships/image"/><Relationship Id="rId4" Target="../media/image19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2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46304"/>
            <a:chOff x="0" y="0"/>
            <a:chExt cx="24384000" cy="1950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1DB95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40696"/>
            <a:ext cx="18288000" cy="146304"/>
            <a:chOff x="0" y="0"/>
            <a:chExt cx="24384000" cy="1950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1DB95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146304"/>
            <a:ext cx="219456" cy="9994392"/>
            <a:chOff x="0" y="0"/>
            <a:chExt cx="292608" cy="133258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2608" cy="13325856"/>
            </a:xfrm>
            <a:custGeom>
              <a:avLst/>
              <a:gdLst/>
              <a:ahLst/>
              <a:cxnLst/>
              <a:rect r="r" b="b" t="t" l="l"/>
              <a:pathLst>
                <a:path h="13325856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325856"/>
                  </a:lnTo>
                  <a:lnTo>
                    <a:pt x="0" y="13325856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520244"/>
            <a:ext cx="1890328" cy="1215211"/>
            <a:chOff x="0" y="0"/>
            <a:chExt cx="3413760" cy="219456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34137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3413760">
                  <a:moveTo>
                    <a:pt x="412831" y="0"/>
                  </a:moveTo>
                  <a:lnTo>
                    <a:pt x="3000929" y="0"/>
                  </a:lnTo>
                  <a:cubicBezTo>
                    <a:pt x="3228929" y="0"/>
                    <a:pt x="3413760" y="184831"/>
                    <a:pt x="3413760" y="412831"/>
                  </a:cubicBezTo>
                  <a:lnTo>
                    <a:pt x="3413760" y="1781729"/>
                  </a:lnTo>
                  <a:cubicBezTo>
                    <a:pt x="3413760" y="1891219"/>
                    <a:pt x="3370265" y="1996224"/>
                    <a:pt x="3292844" y="2073645"/>
                  </a:cubicBezTo>
                  <a:cubicBezTo>
                    <a:pt x="3215424" y="2151066"/>
                    <a:pt x="3110419" y="2194560"/>
                    <a:pt x="3000929" y="2194560"/>
                  </a:cubicBezTo>
                  <a:lnTo>
                    <a:pt x="412831" y="2194560"/>
                  </a:lnTo>
                  <a:cubicBezTo>
                    <a:pt x="303341" y="2194560"/>
                    <a:pt x="198336" y="2151066"/>
                    <a:pt x="120915" y="2073645"/>
                  </a:cubicBezTo>
                  <a:cubicBezTo>
                    <a:pt x="43495" y="1996224"/>
                    <a:pt x="0" y="1891219"/>
                    <a:pt x="0" y="1781729"/>
                  </a:cubicBezTo>
                  <a:lnTo>
                    <a:pt x="0" y="412831"/>
                  </a:lnTo>
                  <a:cubicBezTo>
                    <a:pt x="0" y="303341"/>
                    <a:pt x="43495" y="198336"/>
                    <a:pt x="120915" y="120915"/>
                  </a:cubicBezTo>
                  <a:cubicBezTo>
                    <a:pt x="198336" y="43495"/>
                    <a:pt x="303341" y="0"/>
                    <a:pt x="41283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66" r="0" b="-266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657600" y="694944"/>
            <a:ext cx="13898880" cy="640080"/>
            <a:chOff x="0" y="0"/>
            <a:chExt cx="18531840" cy="853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531839" cy="853440"/>
            </a:xfrm>
            <a:custGeom>
              <a:avLst/>
              <a:gdLst/>
              <a:ahLst/>
              <a:cxnLst/>
              <a:rect r="r" b="b" t="t" l="l"/>
              <a:pathLst>
                <a:path h="853440" w="18531839">
                  <a:moveTo>
                    <a:pt x="0" y="0"/>
                  </a:moveTo>
                  <a:lnTo>
                    <a:pt x="18531839" y="0"/>
                  </a:lnTo>
                  <a:lnTo>
                    <a:pt x="18531839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3103" r="0" b="-37310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85318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300">
                  <a:solidFill>
                    <a:srgbClr val="1DB9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KALINGA INSTITUTE OF INDUSTRIAL TECHNOLOGY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657600" y="1316736"/>
            <a:ext cx="13898880" cy="512064"/>
            <a:chOff x="0" y="0"/>
            <a:chExt cx="18531840" cy="6827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531839" cy="682752"/>
            </a:xfrm>
            <a:custGeom>
              <a:avLst/>
              <a:gdLst/>
              <a:ahLst/>
              <a:cxnLst/>
              <a:rect r="r" b="b" t="t" l="l"/>
              <a:pathLst>
                <a:path h="682752" w="18531839">
                  <a:moveTo>
                    <a:pt x="0" y="0"/>
                  </a:moveTo>
                  <a:lnTo>
                    <a:pt x="18531839" y="0"/>
                  </a:lnTo>
                  <a:lnTo>
                    <a:pt x="185318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8879" r="0" b="-47887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85318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A0B4A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Department of Computer Science and Engineering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03910" y="1992630"/>
            <a:ext cx="16863060" cy="38100"/>
            <a:chOff x="0" y="0"/>
            <a:chExt cx="22484080" cy="50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00" y="0"/>
              <a:ext cx="22433280" cy="50800"/>
            </a:xfrm>
            <a:custGeom>
              <a:avLst/>
              <a:gdLst/>
              <a:ahLst/>
              <a:cxnLst/>
              <a:rect r="r" b="b" t="t" l="l"/>
              <a:pathLst>
                <a:path h="508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A4A3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" y="2286000"/>
            <a:ext cx="16459200" cy="1188720"/>
            <a:chOff x="0" y="0"/>
            <a:chExt cx="21945600" cy="15849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23825"/>
              <a:ext cx="2194560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 Framework for Classifying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4400" y="3383280"/>
            <a:ext cx="16459200" cy="1188720"/>
            <a:chOff x="0" y="0"/>
            <a:chExt cx="21945600" cy="15849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23825"/>
              <a:ext cx="2194560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Kidney Stones Using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4400" y="4480560"/>
            <a:ext cx="16459200" cy="1188720"/>
            <a:chOff x="0" y="0"/>
            <a:chExt cx="21945600" cy="15849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33350"/>
              <a:ext cx="21945600" cy="1718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159"/>
                </a:lnSpc>
              </a:pPr>
              <a:r>
                <a:rPr lang="en-US" sz="6800" b="true">
                  <a:solidFill>
                    <a:srgbClr val="1DB9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Explainable Transformer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698363" y="7136130"/>
            <a:ext cx="9169403" cy="1031243"/>
            <a:chOff x="0" y="0"/>
            <a:chExt cx="12225871" cy="137499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121920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6301A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2257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2225782">
                  <a:moveTo>
                    <a:pt x="16891" y="0"/>
                  </a:moveTo>
                  <a:lnTo>
                    <a:pt x="12208891" y="0"/>
                  </a:lnTo>
                  <a:cubicBezTo>
                    <a:pt x="12218289" y="0"/>
                    <a:pt x="12225782" y="7620"/>
                    <a:pt x="12225782" y="16891"/>
                  </a:cubicBezTo>
                  <a:lnTo>
                    <a:pt x="12225782" y="1358011"/>
                  </a:lnTo>
                  <a:cubicBezTo>
                    <a:pt x="12225782" y="1367409"/>
                    <a:pt x="12218162" y="1374902"/>
                    <a:pt x="1220889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2208891" y="1341120"/>
                  </a:lnTo>
                  <a:lnTo>
                    <a:pt x="12208891" y="1358011"/>
                  </a:lnTo>
                  <a:lnTo>
                    <a:pt x="12192000" y="1358011"/>
                  </a:lnTo>
                  <a:lnTo>
                    <a:pt x="12192000" y="16891"/>
                  </a:lnTo>
                  <a:lnTo>
                    <a:pt x="12208891" y="16891"/>
                  </a:lnTo>
                  <a:lnTo>
                    <a:pt x="12208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DB954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4711060" y="7185403"/>
            <a:ext cx="9144000" cy="402336"/>
            <a:chOff x="0" y="0"/>
            <a:chExt cx="12192000" cy="53644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192000" cy="536448"/>
            </a:xfrm>
            <a:custGeom>
              <a:avLst/>
              <a:gdLst/>
              <a:ahLst/>
              <a:cxnLst/>
              <a:rect r="r" b="b" t="t" l="l"/>
              <a:pathLst>
                <a:path h="536448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2841" r="0" b="-39284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2192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A0B4A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Under the Supervision of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711060" y="7551163"/>
            <a:ext cx="9144000" cy="512064"/>
            <a:chOff x="0" y="0"/>
            <a:chExt cx="12192000" cy="68275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192000" cy="682752"/>
            </a:xfrm>
            <a:custGeom>
              <a:avLst/>
              <a:gdLst/>
              <a:ahLst/>
              <a:cxnLst/>
              <a:rect r="r" b="b" t="t" l="l"/>
              <a:pathLst>
                <a:path h="682752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947" r="0" b="-29794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121920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DB9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Dr. Roshni Pradhan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14400" y="8503920"/>
            <a:ext cx="16459200" cy="457200"/>
            <a:chOff x="0" y="0"/>
            <a:chExt cx="21945600" cy="6096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21945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KIIT, Bhubaneswar, Odisha, India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923925" y="7229940"/>
            <a:ext cx="3597777" cy="1846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2"/>
              </a:lnSpc>
            </a:pPr>
            <a:r>
              <a:rPr lang="en-US" sz="175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Presentd By : </a:t>
            </a:r>
          </a:p>
          <a:p>
            <a:pPr algn="l">
              <a:lnSpc>
                <a:spcPts val="2462"/>
              </a:lnSpc>
            </a:pPr>
            <a:r>
              <a:rPr lang="en-US" sz="175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Satwik Gupta (2305075)</a:t>
            </a:r>
          </a:p>
          <a:p>
            <a:pPr algn="l">
              <a:lnSpc>
                <a:spcPts val="2462"/>
              </a:lnSpc>
            </a:pPr>
            <a:r>
              <a:rPr lang="en-US" sz="175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Saurabh Sharma (2305076)</a:t>
            </a:r>
          </a:p>
          <a:p>
            <a:pPr algn="l">
              <a:lnSpc>
                <a:spcPts val="2462"/>
              </a:lnSpc>
            </a:pPr>
            <a:r>
              <a:rPr lang="en-US" sz="175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Shirsh Mohan (2305245)</a:t>
            </a:r>
          </a:p>
          <a:p>
            <a:pPr algn="l">
              <a:lnSpc>
                <a:spcPts val="2462"/>
              </a:lnSpc>
            </a:pPr>
            <a:r>
              <a:rPr lang="en-US" sz="175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Soham Dey  (2305250)</a:t>
            </a:r>
          </a:p>
          <a:p>
            <a:pPr algn="l">
              <a:lnSpc>
                <a:spcPts val="2462"/>
              </a:lnSpc>
            </a:pPr>
            <a:r>
              <a:rPr lang="en-US" sz="175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Swayam Kashyap (230258)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5544800" cy="1371600"/>
            <a:chOff x="0" y="0"/>
            <a:chExt cx="2072640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072640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 &amp; MOTIVATION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910560" y="91440"/>
            <a:ext cx="1645920" cy="1060704"/>
            <a:chOff x="0" y="0"/>
            <a:chExt cx="2194560" cy="141427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19456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194560">
                  <a:moveTo>
                    <a:pt x="127000" y="0"/>
                  </a:moveTo>
                  <a:lnTo>
                    <a:pt x="2067560" y="0"/>
                  </a:lnTo>
                  <a:cubicBezTo>
                    <a:pt x="2137700" y="0"/>
                    <a:pt x="2194560" y="56860"/>
                    <a:pt x="2194560" y="127000"/>
                  </a:cubicBezTo>
                  <a:lnTo>
                    <a:pt x="2194560" y="1287272"/>
                  </a:lnTo>
                  <a:cubicBezTo>
                    <a:pt x="2194560" y="1320955"/>
                    <a:pt x="2181180" y="1353257"/>
                    <a:pt x="2157363" y="1377075"/>
                  </a:cubicBezTo>
                  <a:cubicBezTo>
                    <a:pt x="2133546" y="1400892"/>
                    <a:pt x="2101242" y="1414272"/>
                    <a:pt x="2067560" y="1414272"/>
                  </a:cubicBezTo>
                  <a:lnTo>
                    <a:pt x="127000" y="1414272"/>
                  </a:lnTo>
                  <a:cubicBezTo>
                    <a:pt x="93318" y="1414272"/>
                    <a:pt x="61015" y="1400892"/>
                    <a:pt x="37197" y="1377075"/>
                  </a:cubicBezTo>
                  <a:cubicBezTo>
                    <a:pt x="13380" y="1353257"/>
                    <a:pt x="0" y="1320955"/>
                    <a:pt x="0" y="1287272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42" r="0" b="-14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44503" y="1633223"/>
            <a:ext cx="4048763" cy="2402843"/>
            <a:chOff x="0" y="0"/>
            <a:chExt cx="5398351" cy="32037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6891" y="16891"/>
              <a:ext cx="5364480" cy="3169920"/>
            </a:xfrm>
            <a:custGeom>
              <a:avLst/>
              <a:gdLst/>
              <a:ahLst/>
              <a:cxnLst/>
              <a:rect r="r" b="b" t="t" l="l"/>
              <a:pathLst>
                <a:path h="31699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98262" cy="3203702"/>
            </a:xfrm>
            <a:custGeom>
              <a:avLst/>
              <a:gdLst/>
              <a:ahLst/>
              <a:cxnLst/>
              <a:rect r="r" b="b" t="t" l="l"/>
              <a:pathLst>
                <a:path h="320370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3186811"/>
                  </a:lnTo>
                  <a:cubicBezTo>
                    <a:pt x="5398262" y="3196209"/>
                    <a:pt x="5390642" y="3203702"/>
                    <a:pt x="538137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5381371" y="3169920"/>
                  </a:lnTo>
                  <a:lnTo>
                    <a:pt x="5381371" y="3186811"/>
                  </a:lnTo>
                  <a:lnTo>
                    <a:pt x="5364480" y="318681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57200" y="1645920"/>
            <a:ext cx="4023360" cy="128016"/>
            <a:chOff x="0" y="0"/>
            <a:chExt cx="5364480" cy="1706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64480" cy="170688"/>
            </a:xfrm>
            <a:custGeom>
              <a:avLst/>
              <a:gdLst/>
              <a:ahLst/>
              <a:cxnLst/>
              <a:rect r="r" b="b" t="t" l="l"/>
              <a:pathLst>
                <a:path h="17068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57200" y="1828800"/>
            <a:ext cx="4023360" cy="1005840"/>
            <a:chOff x="0" y="0"/>
            <a:chExt cx="5364480" cy="13411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644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04775"/>
              <a:ext cx="536448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10%+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57200" y="2834640"/>
            <a:ext cx="4023360" cy="1005840"/>
            <a:chOff x="0" y="0"/>
            <a:chExt cx="5364480" cy="13411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644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36448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Global population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affected by CKD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870199" y="1633223"/>
            <a:ext cx="4048763" cy="2402843"/>
            <a:chOff x="0" y="0"/>
            <a:chExt cx="5398351" cy="32037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5364480" cy="3169920"/>
            </a:xfrm>
            <a:custGeom>
              <a:avLst/>
              <a:gdLst/>
              <a:ahLst/>
              <a:cxnLst/>
              <a:rect r="r" b="b" t="t" l="l"/>
              <a:pathLst>
                <a:path h="31699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398262" cy="3203702"/>
            </a:xfrm>
            <a:custGeom>
              <a:avLst/>
              <a:gdLst/>
              <a:ahLst/>
              <a:cxnLst/>
              <a:rect r="r" b="b" t="t" l="l"/>
              <a:pathLst>
                <a:path h="320370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3186811"/>
                  </a:lnTo>
                  <a:cubicBezTo>
                    <a:pt x="5398262" y="3196209"/>
                    <a:pt x="5390642" y="3203702"/>
                    <a:pt x="538137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5381371" y="3169920"/>
                  </a:lnTo>
                  <a:lnTo>
                    <a:pt x="5381371" y="3186811"/>
                  </a:lnTo>
                  <a:lnTo>
                    <a:pt x="5364480" y="318681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882896" y="1645920"/>
            <a:ext cx="4023360" cy="128016"/>
            <a:chOff x="0" y="0"/>
            <a:chExt cx="5364480" cy="17068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64480" cy="170688"/>
            </a:xfrm>
            <a:custGeom>
              <a:avLst/>
              <a:gdLst/>
              <a:ahLst/>
              <a:cxnLst/>
              <a:rect r="r" b="b" t="t" l="l"/>
              <a:pathLst>
                <a:path h="17068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4882896" y="1828800"/>
            <a:ext cx="4023360" cy="1005840"/>
            <a:chOff x="0" y="0"/>
            <a:chExt cx="5364480" cy="13411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3644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04775"/>
              <a:ext cx="536448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16th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882896" y="2834640"/>
            <a:ext cx="4023360" cy="1005840"/>
            <a:chOff x="0" y="0"/>
            <a:chExt cx="5364480" cy="13411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3644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536448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Leading cause of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death (2016)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295895" y="1633223"/>
            <a:ext cx="4048763" cy="2402843"/>
            <a:chOff x="0" y="0"/>
            <a:chExt cx="5398351" cy="320379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5364480" cy="3169920"/>
            </a:xfrm>
            <a:custGeom>
              <a:avLst/>
              <a:gdLst/>
              <a:ahLst/>
              <a:cxnLst/>
              <a:rect r="r" b="b" t="t" l="l"/>
              <a:pathLst>
                <a:path h="31699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398262" cy="3203702"/>
            </a:xfrm>
            <a:custGeom>
              <a:avLst/>
              <a:gdLst/>
              <a:ahLst/>
              <a:cxnLst/>
              <a:rect r="r" b="b" t="t" l="l"/>
              <a:pathLst>
                <a:path h="320370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3186811"/>
                  </a:lnTo>
                  <a:cubicBezTo>
                    <a:pt x="5398262" y="3196209"/>
                    <a:pt x="5390642" y="3203702"/>
                    <a:pt x="538137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5381371" y="3169920"/>
                  </a:lnTo>
                  <a:lnTo>
                    <a:pt x="5381371" y="3186811"/>
                  </a:lnTo>
                  <a:lnTo>
                    <a:pt x="5364480" y="318681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308592" y="1645920"/>
            <a:ext cx="4023360" cy="128016"/>
            <a:chOff x="0" y="0"/>
            <a:chExt cx="5364480" cy="17068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364480" cy="170688"/>
            </a:xfrm>
            <a:custGeom>
              <a:avLst/>
              <a:gdLst/>
              <a:ahLst/>
              <a:cxnLst/>
              <a:rect r="r" b="b" t="t" l="l"/>
              <a:pathLst>
                <a:path h="17068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308592" y="1828800"/>
            <a:ext cx="4023360" cy="1005840"/>
            <a:chOff x="0" y="0"/>
            <a:chExt cx="5364480" cy="13411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3644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04775"/>
              <a:ext cx="536448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5th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308592" y="2834640"/>
            <a:ext cx="4023360" cy="1005840"/>
            <a:chOff x="0" y="0"/>
            <a:chExt cx="5364480" cy="13411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3644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536448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Projected rank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 2040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721591" y="1633223"/>
            <a:ext cx="4048763" cy="2402843"/>
            <a:chOff x="0" y="0"/>
            <a:chExt cx="5398351" cy="320379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6891" y="16891"/>
              <a:ext cx="5364480" cy="3169920"/>
            </a:xfrm>
            <a:custGeom>
              <a:avLst/>
              <a:gdLst/>
              <a:ahLst/>
              <a:cxnLst/>
              <a:rect r="r" b="b" t="t" l="l"/>
              <a:pathLst>
                <a:path h="31699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398262" cy="3203702"/>
            </a:xfrm>
            <a:custGeom>
              <a:avLst/>
              <a:gdLst/>
              <a:ahLst/>
              <a:cxnLst/>
              <a:rect r="r" b="b" t="t" l="l"/>
              <a:pathLst>
                <a:path h="320370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3186811"/>
                  </a:lnTo>
                  <a:cubicBezTo>
                    <a:pt x="5398262" y="3196209"/>
                    <a:pt x="5390642" y="3203702"/>
                    <a:pt x="538137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5381371" y="3169920"/>
                  </a:lnTo>
                  <a:lnTo>
                    <a:pt x="5381371" y="3186811"/>
                  </a:lnTo>
                  <a:lnTo>
                    <a:pt x="5364480" y="318681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3734288" y="1645920"/>
            <a:ext cx="4023360" cy="128016"/>
            <a:chOff x="0" y="0"/>
            <a:chExt cx="5364480" cy="17068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364480" cy="170688"/>
            </a:xfrm>
            <a:custGeom>
              <a:avLst/>
              <a:gdLst/>
              <a:ahLst/>
              <a:cxnLst/>
              <a:rect r="r" b="b" t="t" l="l"/>
              <a:pathLst>
                <a:path h="17068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3734288" y="1828800"/>
            <a:ext cx="4023360" cy="1005840"/>
            <a:chOff x="0" y="0"/>
            <a:chExt cx="5364480" cy="13411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3644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04775"/>
              <a:ext cx="536448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1:1M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734288" y="2834640"/>
            <a:ext cx="4023360" cy="1005840"/>
            <a:chOff x="0" y="0"/>
            <a:chExt cx="5364480" cy="13411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3644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536448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Nephrologist ratio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 South Asia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444503" y="4376423"/>
            <a:ext cx="8620763" cy="2037083"/>
            <a:chOff x="0" y="0"/>
            <a:chExt cx="11494351" cy="271611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1460481" cy="2682240"/>
            </a:xfrm>
            <a:custGeom>
              <a:avLst/>
              <a:gdLst/>
              <a:ahLst/>
              <a:cxnLst/>
              <a:rect r="r" b="b" t="t" l="l"/>
              <a:pathLst>
                <a:path h="2682240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494262" cy="2716022"/>
            </a:xfrm>
            <a:custGeom>
              <a:avLst/>
              <a:gdLst/>
              <a:ahLst/>
              <a:cxnLst/>
              <a:rect r="r" b="b" t="t" l="l"/>
              <a:pathLst>
                <a:path h="2716022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2699131"/>
                  </a:lnTo>
                  <a:cubicBezTo>
                    <a:pt x="11494262" y="2708529"/>
                    <a:pt x="11486642" y="2716022"/>
                    <a:pt x="11477372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1477372" y="2682240"/>
                  </a:lnTo>
                  <a:lnTo>
                    <a:pt x="11477372" y="2699131"/>
                  </a:lnTo>
                  <a:lnTo>
                    <a:pt x="11460480" y="2699131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457200" y="4389120"/>
            <a:ext cx="146304" cy="2011680"/>
            <a:chOff x="0" y="0"/>
            <a:chExt cx="195072" cy="26822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95072" cy="2682240"/>
            </a:xfrm>
            <a:custGeom>
              <a:avLst/>
              <a:gdLst/>
              <a:ahLst/>
              <a:cxnLst/>
              <a:rect r="r" b="b" t="t" l="l"/>
              <a:pathLst>
                <a:path h="268224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DB954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786384" y="4535424"/>
            <a:ext cx="8046720" cy="859541"/>
            <a:chOff x="0" y="0"/>
            <a:chExt cx="10728960" cy="114605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728960" cy="1146054"/>
            </a:xfrm>
            <a:custGeom>
              <a:avLst/>
              <a:gdLst/>
              <a:ahLst/>
              <a:cxnLst/>
              <a:rect r="r" b="b" t="t" l="l"/>
              <a:pathLst>
                <a:path h="1146054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146054"/>
                  </a:lnTo>
                  <a:lnTo>
                    <a:pt x="0" y="11460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497" r="0" b="-11432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0728960" cy="11841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Kidney Cysts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786384" y="5084064"/>
            <a:ext cx="8046720" cy="1097280"/>
            <a:chOff x="0" y="0"/>
            <a:chExt cx="10728960" cy="14630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7289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1072896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Fluid-filled pockets on kidney surface; water density 0–20 Hounsfield units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405623" y="4376423"/>
            <a:ext cx="8620763" cy="2037083"/>
            <a:chOff x="0" y="0"/>
            <a:chExt cx="11494351" cy="271611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6891" y="16891"/>
              <a:ext cx="11460481" cy="2682240"/>
            </a:xfrm>
            <a:custGeom>
              <a:avLst/>
              <a:gdLst/>
              <a:ahLst/>
              <a:cxnLst/>
              <a:rect r="r" b="b" t="t" l="l"/>
              <a:pathLst>
                <a:path h="2682240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1494262" cy="2716022"/>
            </a:xfrm>
            <a:custGeom>
              <a:avLst/>
              <a:gdLst/>
              <a:ahLst/>
              <a:cxnLst/>
              <a:rect r="r" b="b" t="t" l="l"/>
              <a:pathLst>
                <a:path h="2716022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2699131"/>
                  </a:lnTo>
                  <a:cubicBezTo>
                    <a:pt x="11494262" y="2708529"/>
                    <a:pt x="11486642" y="2716022"/>
                    <a:pt x="11477372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1477372" y="2682240"/>
                  </a:lnTo>
                  <a:lnTo>
                    <a:pt x="11477372" y="2699131"/>
                  </a:lnTo>
                  <a:lnTo>
                    <a:pt x="11460480" y="2699131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418320" y="4389120"/>
            <a:ext cx="146304" cy="2011680"/>
            <a:chOff x="0" y="0"/>
            <a:chExt cx="195072" cy="26822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95072" cy="2682240"/>
            </a:xfrm>
            <a:custGeom>
              <a:avLst/>
              <a:gdLst/>
              <a:ahLst/>
              <a:cxnLst/>
              <a:rect r="r" b="b" t="t" l="l"/>
              <a:pathLst>
                <a:path h="268224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DB954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747504" y="4535424"/>
            <a:ext cx="8046720" cy="859541"/>
            <a:chOff x="0" y="0"/>
            <a:chExt cx="10728960" cy="114605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728960" cy="1146054"/>
            </a:xfrm>
            <a:custGeom>
              <a:avLst/>
              <a:gdLst/>
              <a:ahLst/>
              <a:cxnLst/>
              <a:rect r="r" b="b" t="t" l="l"/>
              <a:pathLst>
                <a:path h="1146054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146054"/>
                  </a:lnTo>
                  <a:lnTo>
                    <a:pt x="0" y="11460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497" r="0" b="-114326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10728960" cy="11841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Nephrolithiasis (Kidney Stones)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747504" y="5084064"/>
            <a:ext cx="8046720" cy="1097280"/>
            <a:chOff x="0" y="0"/>
            <a:chExt cx="10728960" cy="14630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7289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1072896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Crystalline deposits in kidneys; affects ~12% of global population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444503" y="6753863"/>
            <a:ext cx="8620763" cy="2037083"/>
            <a:chOff x="0" y="0"/>
            <a:chExt cx="11494351" cy="271611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16891" y="16891"/>
              <a:ext cx="11460481" cy="2682240"/>
            </a:xfrm>
            <a:custGeom>
              <a:avLst/>
              <a:gdLst/>
              <a:ahLst/>
              <a:cxnLst/>
              <a:rect r="r" b="b" t="t" l="l"/>
              <a:pathLst>
                <a:path h="2682240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1494262" cy="2716022"/>
            </a:xfrm>
            <a:custGeom>
              <a:avLst/>
              <a:gdLst/>
              <a:ahLst/>
              <a:cxnLst/>
              <a:rect r="r" b="b" t="t" l="l"/>
              <a:pathLst>
                <a:path h="2716022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2699131"/>
                  </a:lnTo>
                  <a:cubicBezTo>
                    <a:pt x="11494262" y="2708529"/>
                    <a:pt x="11486642" y="2716022"/>
                    <a:pt x="11477372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1477372" y="2682240"/>
                  </a:lnTo>
                  <a:lnTo>
                    <a:pt x="11477372" y="2699131"/>
                  </a:lnTo>
                  <a:lnTo>
                    <a:pt x="11460480" y="2699131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457200" y="6766560"/>
            <a:ext cx="146304" cy="2011680"/>
            <a:chOff x="0" y="0"/>
            <a:chExt cx="195072" cy="26822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95072" cy="2682240"/>
            </a:xfrm>
            <a:custGeom>
              <a:avLst/>
              <a:gdLst/>
              <a:ahLst/>
              <a:cxnLst/>
              <a:rect r="r" b="b" t="t" l="l"/>
              <a:pathLst>
                <a:path h="268224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DB954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786384" y="6912864"/>
            <a:ext cx="8046720" cy="859536"/>
            <a:chOff x="0" y="0"/>
            <a:chExt cx="10728960" cy="114604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728960" cy="1146048"/>
            </a:xfrm>
            <a:custGeom>
              <a:avLst/>
              <a:gdLst/>
              <a:ahLst/>
              <a:cxnLst/>
              <a:rect r="r" b="b" t="t" l="l"/>
              <a:pathLst>
                <a:path h="114604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146048"/>
                  </a:lnTo>
                  <a:lnTo>
                    <a:pt x="0" y="1146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498" r="0" b="-114328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10728960" cy="11841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Renal Cell Carcinoma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786384" y="7461504"/>
            <a:ext cx="8046720" cy="1097280"/>
            <a:chOff x="0" y="0"/>
            <a:chExt cx="10728960" cy="14630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7289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1072896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Kidney cancer ranks among the 10 most widespread cancers worldwide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405623" y="6753863"/>
            <a:ext cx="8620763" cy="2037083"/>
            <a:chOff x="0" y="0"/>
            <a:chExt cx="11494351" cy="271611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11460481" cy="2682240"/>
            </a:xfrm>
            <a:custGeom>
              <a:avLst/>
              <a:gdLst/>
              <a:ahLst/>
              <a:cxnLst/>
              <a:rect r="r" b="b" t="t" l="l"/>
              <a:pathLst>
                <a:path h="2682240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1494262" cy="2716022"/>
            </a:xfrm>
            <a:custGeom>
              <a:avLst/>
              <a:gdLst/>
              <a:ahLst/>
              <a:cxnLst/>
              <a:rect r="r" b="b" t="t" l="l"/>
              <a:pathLst>
                <a:path h="2716022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2699131"/>
                  </a:lnTo>
                  <a:cubicBezTo>
                    <a:pt x="11494262" y="2708529"/>
                    <a:pt x="11486642" y="2716022"/>
                    <a:pt x="11477372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1477372" y="2682240"/>
                  </a:lnTo>
                  <a:lnTo>
                    <a:pt x="11477372" y="2699131"/>
                  </a:lnTo>
                  <a:lnTo>
                    <a:pt x="11460480" y="2699131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418320" y="6766560"/>
            <a:ext cx="146304" cy="2011680"/>
            <a:chOff x="0" y="0"/>
            <a:chExt cx="195072" cy="26822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95072" cy="2682240"/>
            </a:xfrm>
            <a:custGeom>
              <a:avLst/>
              <a:gdLst/>
              <a:ahLst/>
              <a:cxnLst/>
              <a:rect r="r" b="b" t="t" l="l"/>
              <a:pathLst>
                <a:path h="268224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DB954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9747504" y="6912864"/>
            <a:ext cx="8046720" cy="859536"/>
            <a:chOff x="0" y="0"/>
            <a:chExt cx="10728960" cy="114604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0728960" cy="1146048"/>
            </a:xfrm>
            <a:custGeom>
              <a:avLst/>
              <a:gdLst/>
              <a:ahLst/>
              <a:cxnLst/>
              <a:rect r="r" b="b" t="t" l="l"/>
              <a:pathLst>
                <a:path h="114604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146048"/>
                  </a:lnTo>
                  <a:lnTo>
                    <a:pt x="0" y="1146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498" r="0" b="-114328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10728960" cy="11841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Solution Needed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9747504" y="7461504"/>
            <a:ext cx="8046720" cy="1097280"/>
            <a:chOff x="0" y="0"/>
            <a:chExt cx="10728960" cy="146304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07289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1072896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Shortage of nephrologists demands automated, reliable diagnostic systems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0" y="9692640"/>
            <a:ext cx="18288000" cy="585216"/>
            <a:chOff x="0" y="0"/>
            <a:chExt cx="24384000" cy="780288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4384000" cy="780288"/>
            </a:xfrm>
            <a:custGeom>
              <a:avLst/>
              <a:gdLst/>
              <a:ahLst/>
              <a:cxnLst/>
              <a:rect r="r" b="b" t="t" l="l"/>
              <a:pathLst>
                <a:path h="7802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5544800" cy="1371600"/>
            <a:chOff x="0" y="0"/>
            <a:chExt cx="2072640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072640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DATASET: CT KIDNEY DATASET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910560" y="91440"/>
            <a:ext cx="1645920" cy="1060704"/>
            <a:chOff x="0" y="0"/>
            <a:chExt cx="2194560" cy="141427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19456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194560">
                  <a:moveTo>
                    <a:pt x="127000" y="0"/>
                  </a:moveTo>
                  <a:lnTo>
                    <a:pt x="2067560" y="0"/>
                  </a:lnTo>
                  <a:cubicBezTo>
                    <a:pt x="2137700" y="0"/>
                    <a:pt x="2194560" y="56860"/>
                    <a:pt x="2194560" y="127000"/>
                  </a:cubicBezTo>
                  <a:lnTo>
                    <a:pt x="2194560" y="1287272"/>
                  </a:lnTo>
                  <a:cubicBezTo>
                    <a:pt x="2194560" y="1320955"/>
                    <a:pt x="2181180" y="1353257"/>
                    <a:pt x="2157363" y="1377075"/>
                  </a:cubicBezTo>
                  <a:cubicBezTo>
                    <a:pt x="2133546" y="1400892"/>
                    <a:pt x="2101242" y="1414272"/>
                    <a:pt x="2067560" y="1414272"/>
                  </a:cubicBezTo>
                  <a:lnTo>
                    <a:pt x="127000" y="1414272"/>
                  </a:lnTo>
                  <a:cubicBezTo>
                    <a:pt x="93318" y="1414272"/>
                    <a:pt x="61015" y="1400892"/>
                    <a:pt x="37197" y="1377075"/>
                  </a:cubicBezTo>
                  <a:cubicBezTo>
                    <a:pt x="13380" y="1353257"/>
                    <a:pt x="0" y="1320955"/>
                    <a:pt x="0" y="1287272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42" r="0" b="-14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44503" y="1633223"/>
            <a:ext cx="7854683" cy="3317243"/>
            <a:chOff x="0" y="0"/>
            <a:chExt cx="10472910" cy="44229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6072" y="16891"/>
              <a:ext cx="10440682" cy="4389120"/>
            </a:xfrm>
            <a:custGeom>
              <a:avLst/>
              <a:gdLst/>
              <a:ahLst/>
              <a:cxnLst/>
              <a:rect r="r" b="b" t="t" l="l"/>
              <a:pathLst>
                <a:path h="4389120" w="10440682">
                  <a:moveTo>
                    <a:pt x="0" y="0"/>
                  </a:moveTo>
                  <a:lnTo>
                    <a:pt x="10440682" y="0"/>
                  </a:lnTo>
                  <a:lnTo>
                    <a:pt x="10440682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72826" cy="4422902"/>
            </a:xfrm>
            <a:custGeom>
              <a:avLst/>
              <a:gdLst/>
              <a:ahLst/>
              <a:cxnLst/>
              <a:rect r="r" b="b" t="t" l="l"/>
              <a:pathLst>
                <a:path h="4422902" w="10472826">
                  <a:moveTo>
                    <a:pt x="16072" y="0"/>
                  </a:moveTo>
                  <a:lnTo>
                    <a:pt x="10456754" y="0"/>
                  </a:lnTo>
                  <a:cubicBezTo>
                    <a:pt x="10465696" y="0"/>
                    <a:pt x="10472826" y="7620"/>
                    <a:pt x="10472826" y="16891"/>
                  </a:cubicBezTo>
                  <a:lnTo>
                    <a:pt x="10472826" y="4406011"/>
                  </a:lnTo>
                  <a:cubicBezTo>
                    <a:pt x="10472826" y="4415409"/>
                    <a:pt x="10465575" y="4422902"/>
                    <a:pt x="10456754" y="4422902"/>
                  </a:cubicBezTo>
                  <a:lnTo>
                    <a:pt x="16072" y="4422902"/>
                  </a:lnTo>
                  <a:cubicBezTo>
                    <a:pt x="7130" y="4422902"/>
                    <a:pt x="0" y="4415282"/>
                    <a:pt x="0" y="4406011"/>
                  </a:cubicBezTo>
                  <a:lnTo>
                    <a:pt x="0" y="16891"/>
                  </a:lnTo>
                  <a:cubicBezTo>
                    <a:pt x="0" y="7620"/>
                    <a:pt x="7250" y="0"/>
                    <a:pt x="16072" y="0"/>
                  </a:cubicBezTo>
                  <a:moveTo>
                    <a:pt x="16072" y="33909"/>
                  </a:moveTo>
                  <a:lnTo>
                    <a:pt x="16072" y="16891"/>
                  </a:lnTo>
                  <a:lnTo>
                    <a:pt x="32265" y="16891"/>
                  </a:lnTo>
                  <a:lnTo>
                    <a:pt x="32265" y="4406011"/>
                  </a:lnTo>
                  <a:lnTo>
                    <a:pt x="16072" y="4406011"/>
                  </a:lnTo>
                  <a:lnTo>
                    <a:pt x="16072" y="4389120"/>
                  </a:lnTo>
                  <a:lnTo>
                    <a:pt x="10456754" y="4389120"/>
                  </a:lnTo>
                  <a:lnTo>
                    <a:pt x="10456754" y="4406011"/>
                  </a:lnTo>
                  <a:lnTo>
                    <a:pt x="10440682" y="4406011"/>
                  </a:lnTo>
                  <a:lnTo>
                    <a:pt x="10440682" y="16891"/>
                  </a:lnTo>
                  <a:lnTo>
                    <a:pt x="10456754" y="16891"/>
                  </a:lnTo>
                  <a:lnTo>
                    <a:pt x="10456754" y="33909"/>
                  </a:lnTo>
                  <a:lnTo>
                    <a:pt x="16072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31520" y="1792224"/>
            <a:ext cx="7680960" cy="548640"/>
            <a:chOff x="0" y="0"/>
            <a:chExt cx="1024128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02412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 Overview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31520" y="2377440"/>
            <a:ext cx="7680960" cy="438912"/>
            <a:chOff x="0" y="0"/>
            <a:chExt cx="10241280" cy="5852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241280" cy="585216"/>
            </a:xfrm>
            <a:custGeom>
              <a:avLst/>
              <a:gdLst/>
              <a:ahLst/>
              <a:cxnLst/>
              <a:rect r="r" b="b" t="t" l="l"/>
              <a:pathLst>
                <a:path h="58521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2412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12,446 annotated CT images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31520" y="2816352"/>
            <a:ext cx="7680960" cy="438912"/>
            <a:chOff x="0" y="0"/>
            <a:chExt cx="10241280" cy="5852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41280" cy="585216"/>
            </a:xfrm>
            <a:custGeom>
              <a:avLst/>
              <a:gdLst/>
              <a:ahLst/>
              <a:cxnLst/>
              <a:rect r="r" b="b" t="t" l="l"/>
              <a:pathLst>
                <a:path h="58521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2412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19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Source: PACS at DCIMCH, Dhaka, Bangladesh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31520" y="3255264"/>
            <a:ext cx="7680960" cy="438912"/>
            <a:chOff x="0" y="0"/>
            <a:chExt cx="10241280" cy="5852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241280" cy="585216"/>
            </a:xfrm>
            <a:custGeom>
              <a:avLst/>
              <a:gdLst/>
              <a:ahLst/>
              <a:cxnLst/>
              <a:rect r="r" b="b" t="t" l="l"/>
              <a:pathLst>
                <a:path h="58521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02412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Coronal &amp; axial slices (complete abdomen + urogram)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31520" y="3694176"/>
            <a:ext cx="7680960" cy="438912"/>
            <a:chOff x="0" y="0"/>
            <a:chExt cx="10241280" cy="58521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241280" cy="585216"/>
            </a:xfrm>
            <a:custGeom>
              <a:avLst/>
              <a:gdLst/>
              <a:ahLst/>
              <a:cxnLst/>
              <a:rect r="r" b="b" t="t" l="l"/>
              <a:pathLst>
                <a:path h="58521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02412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Patient data anonymized (DICOM → JPEG lossless)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31520" y="4133088"/>
            <a:ext cx="7680960" cy="438912"/>
            <a:chOff x="0" y="0"/>
            <a:chExt cx="10241280" cy="58521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241280" cy="585216"/>
            </a:xfrm>
            <a:custGeom>
              <a:avLst/>
              <a:gdLst/>
              <a:ahLst/>
              <a:cxnLst/>
              <a:rect r="r" b="b" t="t" l="l"/>
              <a:pathLst>
                <a:path h="58521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2412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Annotated using Philips IntelliSpace Portal 9.034</a:t>
              </a:r>
            </a:p>
          </p:txBody>
        </p:sp>
      </p:grpSp>
      <p:pic>
        <p:nvPicPr>
          <p:cNvPr name="Picture 30" id="3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065008" y="780288"/>
            <a:ext cx="10753344" cy="6364224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283817" y="5453024"/>
            <a:ext cx="8739835" cy="5502859"/>
          </a:xfrm>
          <a:prstGeom prst="rect">
            <a:avLst/>
          </a:prstGeom>
        </p:spPr>
      </p:pic>
      <p:grpSp>
        <p:nvGrpSpPr>
          <p:cNvPr name="Group 32" id="32"/>
          <p:cNvGrpSpPr/>
          <p:nvPr/>
        </p:nvGrpSpPr>
        <p:grpSpPr>
          <a:xfrm rot="0">
            <a:off x="8961120" y="6772275"/>
            <a:ext cx="8961120" cy="548640"/>
            <a:chOff x="0" y="0"/>
            <a:chExt cx="1194816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948160" cy="731520"/>
            </a:xfrm>
            <a:custGeom>
              <a:avLst/>
              <a:gdLst/>
              <a:ahLst/>
              <a:cxnLst/>
              <a:rect r="r" b="b" t="t" l="l"/>
              <a:pathLst>
                <a:path h="73152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255" r="0" b="-26825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19481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Split Strategy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961120" y="7366254"/>
            <a:ext cx="2743200" cy="1828800"/>
            <a:chOff x="0" y="0"/>
            <a:chExt cx="3657600" cy="2438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657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8961120" y="7457694"/>
            <a:ext cx="2743200" cy="914400"/>
            <a:chOff x="0" y="0"/>
            <a:chExt cx="3657600" cy="1219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657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76200"/>
              <a:ext cx="365760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80%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961120" y="8372094"/>
            <a:ext cx="2743200" cy="640080"/>
            <a:chOff x="0" y="0"/>
            <a:chExt cx="3657600" cy="8534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657600" cy="853440"/>
            </a:xfrm>
            <a:custGeom>
              <a:avLst/>
              <a:gdLst/>
              <a:ahLst/>
              <a:cxnLst/>
              <a:rect r="r" b="b" t="t" l="l"/>
              <a:pathLst>
                <a:path h="8534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3657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Training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978640" y="7366254"/>
            <a:ext cx="2743200" cy="1828800"/>
            <a:chOff x="0" y="0"/>
            <a:chExt cx="3657600" cy="2438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657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978640" y="7457694"/>
            <a:ext cx="2743200" cy="914400"/>
            <a:chOff x="0" y="0"/>
            <a:chExt cx="3657600" cy="12192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657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76200"/>
              <a:ext cx="365760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10%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978640" y="8372094"/>
            <a:ext cx="2743200" cy="640080"/>
            <a:chOff x="0" y="0"/>
            <a:chExt cx="3657600" cy="8534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657600" cy="853440"/>
            </a:xfrm>
            <a:custGeom>
              <a:avLst/>
              <a:gdLst/>
              <a:ahLst/>
              <a:cxnLst/>
              <a:rect r="r" b="b" t="t" l="l"/>
              <a:pathLst>
                <a:path h="8534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3657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Validation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4996160" y="7366254"/>
            <a:ext cx="2743200" cy="1828800"/>
            <a:chOff x="0" y="0"/>
            <a:chExt cx="3657600" cy="24384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657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4996160" y="7457694"/>
            <a:ext cx="2743200" cy="914400"/>
            <a:chOff x="0" y="0"/>
            <a:chExt cx="3657600" cy="12192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657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76200"/>
              <a:ext cx="365760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10%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4996160" y="8372094"/>
            <a:ext cx="2743200" cy="640080"/>
            <a:chOff x="0" y="0"/>
            <a:chExt cx="3657600" cy="8534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657600" cy="853440"/>
            </a:xfrm>
            <a:custGeom>
              <a:avLst/>
              <a:gdLst/>
              <a:ahLst/>
              <a:cxnLst/>
              <a:rect r="r" b="b" t="t" l="l"/>
              <a:pathLst>
                <a:path h="8534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3657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5544800" cy="1371600"/>
            <a:chOff x="0" y="0"/>
            <a:chExt cx="2072640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072640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CT SCAN SAMPLES - ALL FOUR CLASSES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65760" y="1554480"/>
            <a:ext cx="4206240" cy="585216"/>
            <a:chOff x="0" y="0"/>
            <a:chExt cx="5608320" cy="7802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08320" cy="780288"/>
            </a:xfrm>
            <a:custGeom>
              <a:avLst/>
              <a:gdLst/>
              <a:ahLst/>
              <a:cxnLst/>
              <a:rect r="r" b="b" t="t" l="l"/>
              <a:pathLst>
                <a:path h="78028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365760" y="1554480"/>
            <a:ext cx="4206240" cy="585216"/>
            <a:chOff x="0" y="0"/>
            <a:chExt cx="5608320" cy="7802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08320" cy="780288"/>
            </a:xfrm>
            <a:custGeom>
              <a:avLst/>
              <a:gdLst/>
              <a:ahLst/>
              <a:cxnLst/>
              <a:rect r="r" b="b" t="t" l="l"/>
              <a:pathLst>
                <a:path h="78028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048" r="0" b="-9004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560832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🔵 Normal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846320" y="1554480"/>
            <a:ext cx="4206240" cy="585216"/>
            <a:chOff x="0" y="0"/>
            <a:chExt cx="5608320" cy="7802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08320" cy="780288"/>
            </a:xfrm>
            <a:custGeom>
              <a:avLst/>
              <a:gdLst/>
              <a:ahLst/>
              <a:cxnLst/>
              <a:rect r="r" b="b" t="t" l="l"/>
              <a:pathLst>
                <a:path h="78028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846320" y="1554480"/>
            <a:ext cx="4206240" cy="585216"/>
            <a:chOff x="0" y="0"/>
            <a:chExt cx="5608320" cy="7802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08320" cy="780288"/>
            </a:xfrm>
            <a:custGeom>
              <a:avLst/>
              <a:gdLst/>
              <a:ahLst/>
              <a:cxnLst/>
              <a:rect r="r" b="b" t="t" l="l"/>
              <a:pathLst>
                <a:path h="78028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048" r="0" b="-9004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560832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🟠 Stone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26880" y="1554480"/>
            <a:ext cx="4206240" cy="585216"/>
            <a:chOff x="0" y="0"/>
            <a:chExt cx="5608320" cy="7802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608320" cy="780288"/>
            </a:xfrm>
            <a:custGeom>
              <a:avLst/>
              <a:gdLst/>
              <a:ahLst/>
              <a:cxnLst/>
              <a:rect r="r" b="b" t="t" l="l"/>
              <a:pathLst>
                <a:path h="78028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326880" y="1554480"/>
            <a:ext cx="4206240" cy="585216"/>
            <a:chOff x="0" y="0"/>
            <a:chExt cx="5608320" cy="78028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608320" cy="780288"/>
            </a:xfrm>
            <a:custGeom>
              <a:avLst/>
              <a:gdLst/>
              <a:ahLst/>
              <a:cxnLst/>
              <a:rect r="r" b="b" t="t" l="l"/>
              <a:pathLst>
                <a:path h="78028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048" r="0" b="-9004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560832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🟣 Cyst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807440" y="1554480"/>
            <a:ext cx="4206240" cy="585216"/>
            <a:chOff x="0" y="0"/>
            <a:chExt cx="5608320" cy="7802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608320" cy="780288"/>
            </a:xfrm>
            <a:custGeom>
              <a:avLst/>
              <a:gdLst/>
              <a:ahLst/>
              <a:cxnLst/>
              <a:rect r="r" b="b" t="t" l="l"/>
              <a:pathLst>
                <a:path h="78028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807440" y="1554480"/>
            <a:ext cx="4206240" cy="585216"/>
            <a:chOff x="0" y="0"/>
            <a:chExt cx="5608320" cy="78028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608320" cy="780288"/>
            </a:xfrm>
            <a:custGeom>
              <a:avLst/>
              <a:gdLst/>
              <a:ahLst/>
              <a:cxnLst/>
              <a:rect r="r" b="b" t="t" l="l"/>
              <a:pathLst>
                <a:path h="78028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048" r="0" b="-9004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560832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🔴 Tumor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65760" y="9984743"/>
            <a:ext cx="17569177" cy="378457"/>
            <a:chOff x="0" y="0"/>
            <a:chExt cx="23425569" cy="50460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8509" y="8509"/>
              <a:ext cx="23408640" cy="487680"/>
            </a:xfrm>
            <a:custGeom>
              <a:avLst/>
              <a:gdLst/>
              <a:ahLst/>
              <a:cxnLst/>
              <a:rect r="r" b="b" t="t" l="l"/>
              <a:pathLst>
                <a:path h="487680" w="23408640">
                  <a:moveTo>
                    <a:pt x="0" y="0"/>
                  </a:moveTo>
                  <a:lnTo>
                    <a:pt x="23408640" y="0"/>
                  </a:lnTo>
                  <a:lnTo>
                    <a:pt x="2340864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ECFDF5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3425657" cy="504698"/>
            </a:xfrm>
            <a:custGeom>
              <a:avLst/>
              <a:gdLst/>
              <a:ahLst/>
              <a:cxnLst/>
              <a:rect r="r" b="b" t="t" l="l"/>
              <a:pathLst>
                <a:path h="504698" w="23425657">
                  <a:moveTo>
                    <a:pt x="8509" y="0"/>
                  </a:moveTo>
                  <a:lnTo>
                    <a:pt x="23417149" y="0"/>
                  </a:lnTo>
                  <a:cubicBezTo>
                    <a:pt x="23421848" y="0"/>
                    <a:pt x="23425657" y="3810"/>
                    <a:pt x="23425657" y="8509"/>
                  </a:cubicBezTo>
                  <a:lnTo>
                    <a:pt x="23425657" y="496189"/>
                  </a:lnTo>
                  <a:cubicBezTo>
                    <a:pt x="23425657" y="500888"/>
                    <a:pt x="23421848" y="504698"/>
                    <a:pt x="23417149" y="504698"/>
                  </a:cubicBezTo>
                  <a:lnTo>
                    <a:pt x="8509" y="504698"/>
                  </a:lnTo>
                  <a:cubicBezTo>
                    <a:pt x="3810" y="504698"/>
                    <a:pt x="0" y="500888"/>
                    <a:pt x="0" y="4961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96189"/>
                  </a:lnTo>
                  <a:lnTo>
                    <a:pt x="8509" y="496189"/>
                  </a:lnTo>
                  <a:lnTo>
                    <a:pt x="8509" y="487680"/>
                  </a:lnTo>
                  <a:lnTo>
                    <a:pt x="23417149" y="487680"/>
                  </a:lnTo>
                  <a:lnTo>
                    <a:pt x="23417149" y="496189"/>
                  </a:lnTo>
                  <a:lnTo>
                    <a:pt x="23408639" y="496189"/>
                  </a:lnTo>
                  <a:lnTo>
                    <a:pt x="23408639" y="8509"/>
                  </a:lnTo>
                  <a:lnTo>
                    <a:pt x="23417149" y="8509"/>
                  </a:lnTo>
                  <a:lnTo>
                    <a:pt x="23417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548640" y="9984743"/>
            <a:ext cx="17190720" cy="365760"/>
            <a:chOff x="0" y="0"/>
            <a:chExt cx="22920960" cy="4876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920961" cy="487680"/>
            </a:xfrm>
            <a:custGeom>
              <a:avLst/>
              <a:gdLst/>
              <a:ahLst/>
              <a:cxnLst/>
              <a:rect r="r" b="b" t="t" l="l"/>
              <a:pathLst>
                <a:path h="48768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5796" r="0" b="-86579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2292096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Fig. 2 from paper — Representative CT images of kidney cyst, normal, stone, and tumor classes with highlighted regions of interest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5910560" y="160401"/>
            <a:ext cx="1645920" cy="1060704"/>
            <a:chOff x="0" y="0"/>
            <a:chExt cx="2194560" cy="1414272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219456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194560">
                  <a:moveTo>
                    <a:pt x="127000" y="0"/>
                  </a:moveTo>
                  <a:lnTo>
                    <a:pt x="2067560" y="0"/>
                  </a:lnTo>
                  <a:cubicBezTo>
                    <a:pt x="2137700" y="0"/>
                    <a:pt x="2194560" y="56860"/>
                    <a:pt x="2194560" y="127000"/>
                  </a:cubicBezTo>
                  <a:lnTo>
                    <a:pt x="2194560" y="1287272"/>
                  </a:lnTo>
                  <a:cubicBezTo>
                    <a:pt x="2194560" y="1320955"/>
                    <a:pt x="2181180" y="1353257"/>
                    <a:pt x="2157363" y="1377075"/>
                  </a:cubicBezTo>
                  <a:cubicBezTo>
                    <a:pt x="2133546" y="1400892"/>
                    <a:pt x="2101242" y="1414272"/>
                    <a:pt x="2067560" y="1414272"/>
                  </a:cubicBezTo>
                  <a:lnTo>
                    <a:pt x="127000" y="1414272"/>
                  </a:lnTo>
                  <a:cubicBezTo>
                    <a:pt x="93318" y="1414272"/>
                    <a:pt x="61015" y="1400892"/>
                    <a:pt x="37197" y="1377075"/>
                  </a:cubicBezTo>
                  <a:cubicBezTo>
                    <a:pt x="13380" y="1353257"/>
                    <a:pt x="0" y="1320955"/>
                    <a:pt x="0" y="1287272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42" r="0" b="-143"/>
              </a:stretch>
            </a:blipFill>
          </p:spPr>
        </p:sp>
      </p:grpSp>
      <p:sp>
        <p:nvSpPr>
          <p:cNvPr name="Freeform 35" id="35"/>
          <p:cNvSpPr/>
          <p:nvPr/>
        </p:nvSpPr>
        <p:spPr>
          <a:xfrm flipH="false" flipV="false" rot="0">
            <a:off x="9854206" y="2320671"/>
            <a:ext cx="2720098" cy="2353616"/>
          </a:xfrm>
          <a:custGeom>
            <a:avLst/>
            <a:gdLst/>
            <a:ahLst/>
            <a:cxnLst/>
            <a:rect r="r" b="b" t="t" l="l"/>
            <a:pathLst>
              <a:path h="2353616" w="2720098">
                <a:moveTo>
                  <a:pt x="0" y="0"/>
                </a:moveTo>
                <a:lnTo>
                  <a:pt x="2720098" y="0"/>
                </a:lnTo>
                <a:lnTo>
                  <a:pt x="2720098" y="2353616"/>
                </a:lnTo>
                <a:lnTo>
                  <a:pt x="0" y="23536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0590" r="0" b="-498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9854206" y="7353463"/>
            <a:ext cx="2720098" cy="2192196"/>
          </a:xfrm>
          <a:custGeom>
            <a:avLst/>
            <a:gdLst/>
            <a:ahLst/>
            <a:cxnLst/>
            <a:rect r="r" b="b" t="t" l="l"/>
            <a:pathLst>
              <a:path h="2192196" w="2720098">
                <a:moveTo>
                  <a:pt x="0" y="0"/>
                </a:moveTo>
                <a:lnTo>
                  <a:pt x="2720098" y="0"/>
                </a:lnTo>
                <a:lnTo>
                  <a:pt x="2720098" y="2192196"/>
                </a:lnTo>
                <a:lnTo>
                  <a:pt x="0" y="21921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3664" r="0" b="-416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9854206" y="4897412"/>
            <a:ext cx="2720098" cy="2275076"/>
          </a:xfrm>
          <a:custGeom>
            <a:avLst/>
            <a:gdLst/>
            <a:ahLst/>
            <a:cxnLst/>
            <a:rect r="r" b="b" t="t" l="l"/>
            <a:pathLst>
              <a:path h="2275076" w="2720098">
                <a:moveTo>
                  <a:pt x="0" y="0"/>
                </a:moveTo>
                <a:lnTo>
                  <a:pt x="2720098" y="0"/>
                </a:lnTo>
                <a:lnTo>
                  <a:pt x="2720098" y="2275076"/>
                </a:lnTo>
                <a:lnTo>
                  <a:pt x="0" y="22750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4520" r="0" b="-504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788127" y="2320671"/>
            <a:ext cx="2304728" cy="2304728"/>
          </a:xfrm>
          <a:custGeom>
            <a:avLst/>
            <a:gdLst/>
            <a:ahLst/>
            <a:cxnLst/>
            <a:rect r="r" b="b" t="t" l="l"/>
            <a:pathLst>
              <a:path h="2304728" w="2304728">
                <a:moveTo>
                  <a:pt x="0" y="0"/>
                </a:moveTo>
                <a:lnTo>
                  <a:pt x="2304728" y="0"/>
                </a:lnTo>
                <a:lnTo>
                  <a:pt x="2304728" y="2304728"/>
                </a:lnTo>
                <a:lnTo>
                  <a:pt x="0" y="23047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817779" y="4897412"/>
            <a:ext cx="2275076" cy="2275076"/>
          </a:xfrm>
          <a:custGeom>
            <a:avLst/>
            <a:gdLst/>
            <a:ahLst/>
            <a:cxnLst/>
            <a:rect r="r" b="b" t="t" l="l"/>
            <a:pathLst>
              <a:path h="2275076" w="2275076">
                <a:moveTo>
                  <a:pt x="0" y="0"/>
                </a:moveTo>
                <a:lnTo>
                  <a:pt x="2275076" y="0"/>
                </a:lnTo>
                <a:lnTo>
                  <a:pt x="2275076" y="2275076"/>
                </a:lnTo>
                <a:lnTo>
                  <a:pt x="0" y="22750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788127" y="7439188"/>
            <a:ext cx="2304728" cy="2304728"/>
          </a:xfrm>
          <a:custGeom>
            <a:avLst/>
            <a:gdLst/>
            <a:ahLst/>
            <a:cxnLst/>
            <a:rect r="r" b="b" t="t" l="l"/>
            <a:pathLst>
              <a:path h="2304728" w="2304728">
                <a:moveTo>
                  <a:pt x="0" y="0"/>
                </a:moveTo>
                <a:lnTo>
                  <a:pt x="2304728" y="0"/>
                </a:lnTo>
                <a:lnTo>
                  <a:pt x="2304728" y="2304728"/>
                </a:lnTo>
                <a:lnTo>
                  <a:pt x="0" y="23047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5320628" y="2320671"/>
            <a:ext cx="2395766" cy="2395766"/>
          </a:xfrm>
          <a:custGeom>
            <a:avLst/>
            <a:gdLst/>
            <a:ahLst/>
            <a:cxnLst/>
            <a:rect r="r" b="b" t="t" l="l"/>
            <a:pathLst>
              <a:path h="2395766" w="2395766">
                <a:moveTo>
                  <a:pt x="0" y="0"/>
                </a:moveTo>
                <a:lnTo>
                  <a:pt x="2395766" y="0"/>
                </a:lnTo>
                <a:lnTo>
                  <a:pt x="2395766" y="2395766"/>
                </a:lnTo>
                <a:lnTo>
                  <a:pt x="0" y="23957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5320628" y="4897412"/>
            <a:ext cx="2304728" cy="2304728"/>
          </a:xfrm>
          <a:custGeom>
            <a:avLst/>
            <a:gdLst/>
            <a:ahLst/>
            <a:cxnLst/>
            <a:rect r="r" b="b" t="t" l="l"/>
            <a:pathLst>
              <a:path h="2304728" w="2304728">
                <a:moveTo>
                  <a:pt x="0" y="0"/>
                </a:moveTo>
                <a:lnTo>
                  <a:pt x="2304728" y="0"/>
                </a:lnTo>
                <a:lnTo>
                  <a:pt x="2304728" y="2304728"/>
                </a:lnTo>
                <a:lnTo>
                  <a:pt x="0" y="230472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5320628" y="7383115"/>
            <a:ext cx="2304728" cy="2304728"/>
          </a:xfrm>
          <a:custGeom>
            <a:avLst/>
            <a:gdLst/>
            <a:ahLst/>
            <a:cxnLst/>
            <a:rect r="r" b="b" t="t" l="l"/>
            <a:pathLst>
              <a:path h="2304728" w="2304728">
                <a:moveTo>
                  <a:pt x="0" y="0"/>
                </a:moveTo>
                <a:lnTo>
                  <a:pt x="2304728" y="0"/>
                </a:lnTo>
                <a:lnTo>
                  <a:pt x="2304728" y="2304729"/>
                </a:lnTo>
                <a:lnTo>
                  <a:pt x="0" y="230472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4712677" y="2330196"/>
            <a:ext cx="2395766" cy="2353616"/>
          </a:xfrm>
          <a:custGeom>
            <a:avLst/>
            <a:gdLst/>
            <a:ahLst/>
            <a:cxnLst/>
            <a:rect r="r" b="b" t="t" l="l"/>
            <a:pathLst>
              <a:path h="2353616" w="2395766">
                <a:moveTo>
                  <a:pt x="0" y="0"/>
                </a:moveTo>
                <a:lnTo>
                  <a:pt x="2395766" y="0"/>
                </a:lnTo>
                <a:lnTo>
                  <a:pt x="2395766" y="2353616"/>
                </a:lnTo>
                <a:lnTo>
                  <a:pt x="0" y="235361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-179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4712677" y="4864787"/>
            <a:ext cx="2317226" cy="2317226"/>
          </a:xfrm>
          <a:custGeom>
            <a:avLst/>
            <a:gdLst/>
            <a:ahLst/>
            <a:cxnLst/>
            <a:rect r="r" b="b" t="t" l="l"/>
            <a:pathLst>
              <a:path h="2317226" w="2317226">
                <a:moveTo>
                  <a:pt x="0" y="0"/>
                </a:moveTo>
                <a:lnTo>
                  <a:pt x="2317226" y="0"/>
                </a:lnTo>
                <a:lnTo>
                  <a:pt x="2317226" y="2317226"/>
                </a:lnTo>
                <a:lnTo>
                  <a:pt x="0" y="231722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4712677" y="7392640"/>
            <a:ext cx="2162543" cy="2162543"/>
          </a:xfrm>
          <a:custGeom>
            <a:avLst/>
            <a:gdLst/>
            <a:ahLst/>
            <a:cxnLst/>
            <a:rect r="r" b="b" t="t" l="l"/>
            <a:pathLst>
              <a:path h="2162543" w="2162543">
                <a:moveTo>
                  <a:pt x="0" y="0"/>
                </a:moveTo>
                <a:lnTo>
                  <a:pt x="2162543" y="0"/>
                </a:lnTo>
                <a:lnTo>
                  <a:pt x="2162543" y="2162544"/>
                </a:lnTo>
                <a:lnTo>
                  <a:pt x="0" y="216254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5544800" cy="1371600"/>
            <a:chOff x="0" y="0"/>
            <a:chExt cx="2072640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072640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METHODOLOGY &amp; PIPELINE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910560" y="91440"/>
            <a:ext cx="1645920" cy="1060704"/>
            <a:chOff x="0" y="0"/>
            <a:chExt cx="2194560" cy="141427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19456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414272"/>
                  </a:lnTo>
                  <a:lnTo>
                    <a:pt x="0" y="1414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42" r="0" b="-14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25296" y="1645920"/>
            <a:ext cx="1133856" cy="1133856"/>
            <a:chOff x="0" y="0"/>
            <a:chExt cx="1511808" cy="15118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1180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511808">
                  <a:moveTo>
                    <a:pt x="0" y="755904"/>
                  </a:moveTo>
                  <a:cubicBezTo>
                    <a:pt x="0" y="338455"/>
                    <a:pt x="338455" y="0"/>
                    <a:pt x="755904" y="0"/>
                  </a:cubicBezTo>
                  <a:cubicBezTo>
                    <a:pt x="1173353" y="0"/>
                    <a:pt x="1511808" y="338455"/>
                    <a:pt x="1511808" y="755904"/>
                  </a:cubicBezTo>
                  <a:cubicBezTo>
                    <a:pt x="1511808" y="1173353"/>
                    <a:pt x="1173353" y="1511808"/>
                    <a:pt x="755904" y="1511808"/>
                  </a:cubicBezTo>
                  <a:cubicBezTo>
                    <a:pt x="338455" y="1511808"/>
                    <a:pt x="0" y="1173353"/>
                    <a:pt x="0" y="755904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25296" y="1645920"/>
            <a:ext cx="1133856" cy="1133856"/>
            <a:chOff x="0" y="0"/>
            <a:chExt cx="1511808" cy="151180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1180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511808" cy="15784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53063" y="2913383"/>
            <a:ext cx="2768603" cy="2037083"/>
            <a:chOff x="0" y="0"/>
            <a:chExt cx="3691471" cy="27161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36576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913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2699131"/>
                  </a:lnTo>
                  <a:cubicBezTo>
                    <a:pt x="3691382" y="2708529"/>
                    <a:pt x="3683762" y="2716022"/>
                    <a:pt x="367449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3674491" y="2682240"/>
                  </a:lnTo>
                  <a:lnTo>
                    <a:pt x="3674491" y="2699131"/>
                  </a:lnTo>
                  <a:lnTo>
                    <a:pt x="3657600" y="269913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65760" y="2926080"/>
            <a:ext cx="2743200" cy="109728"/>
            <a:chOff x="0" y="0"/>
            <a:chExt cx="3657600" cy="14630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57600" cy="146304"/>
            </a:xfrm>
            <a:custGeom>
              <a:avLst/>
              <a:gdLst/>
              <a:ahLst/>
              <a:cxnLst/>
              <a:rect r="r" b="b" t="t" l="l"/>
              <a:pathLst>
                <a:path h="14630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365760" y="3072384"/>
            <a:ext cx="2743200" cy="548640"/>
            <a:chOff x="0" y="0"/>
            <a:chExt cx="365760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657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Collection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65760" y="3657600"/>
            <a:ext cx="2743200" cy="1097280"/>
            <a:chOff x="0" y="0"/>
            <a:chExt cx="3657600" cy="14630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57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657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12,446 CT images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from PACS/DCIMCH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089910" y="3912870"/>
            <a:ext cx="220980" cy="38100"/>
            <a:chOff x="0" y="0"/>
            <a:chExt cx="294640" cy="50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25400" y="0"/>
              <a:ext cx="243840" cy="50800"/>
            </a:xfrm>
            <a:custGeom>
              <a:avLst/>
              <a:gdLst/>
              <a:ahLst/>
              <a:cxnLst/>
              <a:rect r="r" b="b" t="t" l="l"/>
              <a:pathLst>
                <a:path h="50800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4151376" y="1645920"/>
            <a:ext cx="1133856" cy="1133856"/>
            <a:chOff x="0" y="0"/>
            <a:chExt cx="1511808" cy="151180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1180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511808">
                  <a:moveTo>
                    <a:pt x="0" y="755904"/>
                  </a:moveTo>
                  <a:cubicBezTo>
                    <a:pt x="0" y="338455"/>
                    <a:pt x="338455" y="0"/>
                    <a:pt x="755904" y="0"/>
                  </a:cubicBezTo>
                  <a:cubicBezTo>
                    <a:pt x="1173353" y="0"/>
                    <a:pt x="1511808" y="338455"/>
                    <a:pt x="1511808" y="755904"/>
                  </a:cubicBezTo>
                  <a:cubicBezTo>
                    <a:pt x="1511808" y="1173353"/>
                    <a:pt x="1173353" y="1511808"/>
                    <a:pt x="755904" y="1511808"/>
                  </a:cubicBezTo>
                  <a:cubicBezTo>
                    <a:pt x="338455" y="1511808"/>
                    <a:pt x="0" y="1173353"/>
                    <a:pt x="0" y="755904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151376" y="1645920"/>
            <a:ext cx="1133856" cy="1133856"/>
            <a:chOff x="0" y="0"/>
            <a:chExt cx="1511808" cy="151180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1180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1511808" cy="15784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279143" y="2913383"/>
            <a:ext cx="2768603" cy="2037083"/>
            <a:chOff x="0" y="0"/>
            <a:chExt cx="3691471" cy="27161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36576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6913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2699131"/>
                  </a:lnTo>
                  <a:cubicBezTo>
                    <a:pt x="3691382" y="2708529"/>
                    <a:pt x="3683762" y="2716022"/>
                    <a:pt x="367449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3674491" y="2682240"/>
                  </a:lnTo>
                  <a:lnTo>
                    <a:pt x="3674491" y="2699131"/>
                  </a:lnTo>
                  <a:lnTo>
                    <a:pt x="3657600" y="269913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3291840" y="2926080"/>
            <a:ext cx="2743200" cy="109728"/>
            <a:chOff x="0" y="0"/>
            <a:chExt cx="3657600" cy="14630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657600" cy="146304"/>
            </a:xfrm>
            <a:custGeom>
              <a:avLst/>
              <a:gdLst/>
              <a:ahLst/>
              <a:cxnLst/>
              <a:rect r="r" b="b" t="t" l="l"/>
              <a:pathLst>
                <a:path h="14630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3291840" y="3072384"/>
            <a:ext cx="2743200" cy="548640"/>
            <a:chOff x="0" y="0"/>
            <a:chExt cx="3657600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3657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Preprocessing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3291840" y="3657600"/>
            <a:ext cx="2743200" cy="1097280"/>
            <a:chOff x="0" y="0"/>
            <a:chExt cx="3657600" cy="14630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657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3657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Resize 224×224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Normalize, Z-norm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015990" y="3912870"/>
            <a:ext cx="220980" cy="38100"/>
            <a:chOff x="0" y="0"/>
            <a:chExt cx="294640" cy="50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25400" y="0"/>
              <a:ext cx="243840" cy="50800"/>
            </a:xfrm>
            <a:custGeom>
              <a:avLst/>
              <a:gdLst/>
              <a:ahLst/>
              <a:cxnLst/>
              <a:rect r="r" b="b" t="t" l="l"/>
              <a:pathLst>
                <a:path h="50800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7077456" y="1645920"/>
            <a:ext cx="1133856" cy="1133856"/>
            <a:chOff x="0" y="0"/>
            <a:chExt cx="1511808" cy="151180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51180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511808">
                  <a:moveTo>
                    <a:pt x="0" y="755904"/>
                  </a:moveTo>
                  <a:cubicBezTo>
                    <a:pt x="0" y="338455"/>
                    <a:pt x="338455" y="0"/>
                    <a:pt x="755904" y="0"/>
                  </a:cubicBezTo>
                  <a:cubicBezTo>
                    <a:pt x="1173353" y="0"/>
                    <a:pt x="1511808" y="338455"/>
                    <a:pt x="1511808" y="755904"/>
                  </a:cubicBezTo>
                  <a:cubicBezTo>
                    <a:pt x="1511808" y="1173353"/>
                    <a:pt x="1173353" y="1511808"/>
                    <a:pt x="755904" y="1511808"/>
                  </a:cubicBezTo>
                  <a:cubicBezTo>
                    <a:pt x="338455" y="1511808"/>
                    <a:pt x="0" y="1173353"/>
                    <a:pt x="0" y="755904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7077456" y="1645920"/>
            <a:ext cx="1133856" cy="1133856"/>
            <a:chOff x="0" y="0"/>
            <a:chExt cx="1511808" cy="151180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51180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66675"/>
              <a:ext cx="1511808" cy="15784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205223" y="2913383"/>
            <a:ext cx="2768603" cy="2037083"/>
            <a:chOff x="0" y="0"/>
            <a:chExt cx="3691471" cy="271611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36576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6913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2699131"/>
                  </a:lnTo>
                  <a:cubicBezTo>
                    <a:pt x="3691382" y="2708529"/>
                    <a:pt x="3683762" y="2716022"/>
                    <a:pt x="367449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3674491" y="2682240"/>
                  </a:lnTo>
                  <a:lnTo>
                    <a:pt x="3674491" y="2699131"/>
                  </a:lnTo>
                  <a:lnTo>
                    <a:pt x="3657600" y="269913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217920" y="2926080"/>
            <a:ext cx="2743200" cy="109728"/>
            <a:chOff x="0" y="0"/>
            <a:chExt cx="3657600" cy="14630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657600" cy="146304"/>
            </a:xfrm>
            <a:custGeom>
              <a:avLst/>
              <a:gdLst/>
              <a:ahLst/>
              <a:cxnLst/>
              <a:rect r="r" b="b" t="t" l="l"/>
              <a:pathLst>
                <a:path h="14630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6217920" y="3072384"/>
            <a:ext cx="2743200" cy="548640"/>
            <a:chOff x="0" y="0"/>
            <a:chExt cx="3657600" cy="731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3657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Splitting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6217920" y="3657600"/>
            <a:ext cx="2743200" cy="1097280"/>
            <a:chOff x="0" y="0"/>
            <a:chExt cx="3657600" cy="14630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657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3657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80% Train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10% Val / 10% Test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8942070" y="3912870"/>
            <a:ext cx="220980" cy="38100"/>
            <a:chOff x="0" y="0"/>
            <a:chExt cx="294640" cy="508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25400" y="0"/>
              <a:ext cx="243840" cy="50800"/>
            </a:xfrm>
            <a:custGeom>
              <a:avLst/>
              <a:gdLst/>
              <a:ahLst/>
              <a:cxnLst/>
              <a:rect r="r" b="b" t="t" l="l"/>
              <a:pathLst>
                <a:path h="50800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0003536" y="1645920"/>
            <a:ext cx="1133856" cy="1133856"/>
            <a:chOff x="0" y="0"/>
            <a:chExt cx="1511808" cy="151180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51180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511808">
                  <a:moveTo>
                    <a:pt x="0" y="755904"/>
                  </a:moveTo>
                  <a:cubicBezTo>
                    <a:pt x="0" y="338455"/>
                    <a:pt x="338455" y="0"/>
                    <a:pt x="755904" y="0"/>
                  </a:cubicBezTo>
                  <a:cubicBezTo>
                    <a:pt x="1173353" y="0"/>
                    <a:pt x="1511808" y="338455"/>
                    <a:pt x="1511808" y="755904"/>
                  </a:cubicBezTo>
                  <a:cubicBezTo>
                    <a:pt x="1511808" y="1173353"/>
                    <a:pt x="1173353" y="1511808"/>
                    <a:pt x="755904" y="1511808"/>
                  </a:cubicBezTo>
                  <a:cubicBezTo>
                    <a:pt x="338455" y="1511808"/>
                    <a:pt x="0" y="1173353"/>
                    <a:pt x="0" y="755904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003536" y="1645920"/>
            <a:ext cx="1133856" cy="1133856"/>
            <a:chOff x="0" y="0"/>
            <a:chExt cx="1511808" cy="151180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51180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66675"/>
              <a:ext cx="1511808" cy="15784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131303" y="2913383"/>
            <a:ext cx="2768603" cy="2037083"/>
            <a:chOff x="0" y="0"/>
            <a:chExt cx="3691471" cy="271611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36576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6913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2699131"/>
                  </a:lnTo>
                  <a:cubicBezTo>
                    <a:pt x="3691382" y="2708529"/>
                    <a:pt x="3683762" y="2716022"/>
                    <a:pt x="367449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3674491" y="2682240"/>
                  </a:lnTo>
                  <a:lnTo>
                    <a:pt x="3674491" y="2699131"/>
                  </a:lnTo>
                  <a:lnTo>
                    <a:pt x="3657600" y="269913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144000" y="2926080"/>
            <a:ext cx="2743200" cy="109728"/>
            <a:chOff x="0" y="0"/>
            <a:chExt cx="3657600" cy="14630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657600" cy="146304"/>
            </a:xfrm>
            <a:custGeom>
              <a:avLst/>
              <a:gdLst/>
              <a:ahLst/>
              <a:cxnLst/>
              <a:rect r="r" b="b" t="t" l="l"/>
              <a:pathLst>
                <a:path h="14630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9144000" y="3072384"/>
            <a:ext cx="2743200" cy="548640"/>
            <a:chOff x="0" y="0"/>
            <a:chExt cx="3657600" cy="7315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3657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Oversampling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144000" y="3657600"/>
            <a:ext cx="2743200" cy="1097280"/>
            <a:chOff x="0" y="0"/>
            <a:chExt cx="3657600" cy="14630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657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3657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RandomOverSampler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Balance classes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1868150" y="3912870"/>
            <a:ext cx="220980" cy="38100"/>
            <a:chOff x="0" y="0"/>
            <a:chExt cx="294640" cy="508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25400" y="0"/>
              <a:ext cx="243840" cy="50800"/>
            </a:xfrm>
            <a:custGeom>
              <a:avLst/>
              <a:gdLst/>
              <a:ahLst/>
              <a:cxnLst/>
              <a:rect r="r" b="b" t="t" l="l"/>
              <a:pathLst>
                <a:path h="50800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2929616" y="1645920"/>
            <a:ext cx="1133856" cy="1133856"/>
            <a:chOff x="0" y="0"/>
            <a:chExt cx="1511808" cy="151180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51180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511808">
                  <a:moveTo>
                    <a:pt x="0" y="755904"/>
                  </a:moveTo>
                  <a:cubicBezTo>
                    <a:pt x="0" y="338455"/>
                    <a:pt x="338455" y="0"/>
                    <a:pt x="755904" y="0"/>
                  </a:cubicBezTo>
                  <a:cubicBezTo>
                    <a:pt x="1173353" y="0"/>
                    <a:pt x="1511808" y="338455"/>
                    <a:pt x="1511808" y="755904"/>
                  </a:cubicBezTo>
                  <a:cubicBezTo>
                    <a:pt x="1511808" y="1173353"/>
                    <a:pt x="1173353" y="1511808"/>
                    <a:pt x="755904" y="1511808"/>
                  </a:cubicBezTo>
                  <a:cubicBezTo>
                    <a:pt x="338455" y="1511808"/>
                    <a:pt x="0" y="1173353"/>
                    <a:pt x="0" y="755904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2929616" y="1645920"/>
            <a:ext cx="1133856" cy="1133856"/>
            <a:chOff x="0" y="0"/>
            <a:chExt cx="1511808" cy="151180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51180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66675"/>
              <a:ext cx="1511808" cy="15784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2057383" y="2913383"/>
            <a:ext cx="2768603" cy="2037083"/>
            <a:chOff x="0" y="0"/>
            <a:chExt cx="3691471" cy="271611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36576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6913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2699131"/>
                  </a:lnTo>
                  <a:cubicBezTo>
                    <a:pt x="3691382" y="2708529"/>
                    <a:pt x="3683762" y="2716022"/>
                    <a:pt x="367449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3674491" y="2682240"/>
                  </a:lnTo>
                  <a:lnTo>
                    <a:pt x="3674491" y="2699131"/>
                  </a:lnTo>
                  <a:lnTo>
                    <a:pt x="3657600" y="269913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2070080" y="2926080"/>
            <a:ext cx="2743200" cy="109728"/>
            <a:chOff x="0" y="0"/>
            <a:chExt cx="3657600" cy="14630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657600" cy="146304"/>
            </a:xfrm>
            <a:custGeom>
              <a:avLst/>
              <a:gdLst/>
              <a:ahLst/>
              <a:cxnLst/>
              <a:rect r="r" b="b" t="t" l="l"/>
              <a:pathLst>
                <a:path h="14630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2070080" y="3072384"/>
            <a:ext cx="2743200" cy="548640"/>
            <a:chOff x="0" y="0"/>
            <a:chExt cx="3657600" cy="73152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3657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Training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2070080" y="3657600"/>
            <a:ext cx="2743200" cy="1097280"/>
            <a:chOff x="0" y="0"/>
            <a:chExt cx="3657600" cy="146304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657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3657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 models trained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Early stopping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4794230" y="3912870"/>
            <a:ext cx="220980" cy="38100"/>
            <a:chOff x="0" y="0"/>
            <a:chExt cx="294640" cy="508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25400" y="0"/>
              <a:ext cx="243840" cy="50800"/>
            </a:xfrm>
            <a:custGeom>
              <a:avLst/>
              <a:gdLst/>
              <a:ahLst/>
              <a:cxnLst/>
              <a:rect r="r" b="b" t="t" l="l"/>
              <a:pathLst>
                <a:path h="50800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5855696" y="1645920"/>
            <a:ext cx="1133856" cy="1133856"/>
            <a:chOff x="0" y="0"/>
            <a:chExt cx="1511808" cy="1511808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51180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511808">
                  <a:moveTo>
                    <a:pt x="0" y="755904"/>
                  </a:moveTo>
                  <a:cubicBezTo>
                    <a:pt x="0" y="338455"/>
                    <a:pt x="338455" y="0"/>
                    <a:pt x="755904" y="0"/>
                  </a:cubicBezTo>
                  <a:cubicBezTo>
                    <a:pt x="1173353" y="0"/>
                    <a:pt x="1511808" y="338455"/>
                    <a:pt x="1511808" y="755904"/>
                  </a:cubicBezTo>
                  <a:cubicBezTo>
                    <a:pt x="1511808" y="1173353"/>
                    <a:pt x="1173353" y="1511808"/>
                    <a:pt x="755904" y="1511808"/>
                  </a:cubicBezTo>
                  <a:cubicBezTo>
                    <a:pt x="338455" y="1511808"/>
                    <a:pt x="0" y="1173353"/>
                    <a:pt x="0" y="755904"/>
                  </a:cubicBez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5855696" y="1645920"/>
            <a:ext cx="1133856" cy="1133856"/>
            <a:chOff x="0" y="0"/>
            <a:chExt cx="1511808" cy="151180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51180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66675"/>
              <a:ext cx="1511808" cy="15784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4983463" y="2913383"/>
            <a:ext cx="2768603" cy="2037083"/>
            <a:chOff x="0" y="0"/>
            <a:chExt cx="3691471" cy="2716111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36576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36913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2699131"/>
                  </a:lnTo>
                  <a:cubicBezTo>
                    <a:pt x="3691382" y="2708529"/>
                    <a:pt x="3683762" y="2716022"/>
                    <a:pt x="367449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3674491" y="2682240"/>
                  </a:lnTo>
                  <a:lnTo>
                    <a:pt x="3674491" y="2699131"/>
                  </a:lnTo>
                  <a:lnTo>
                    <a:pt x="3657600" y="269913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4996160" y="2926080"/>
            <a:ext cx="2743200" cy="109728"/>
            <a:chOff x="0" y="0"/>
            <a:chExt cx="3657600" cy="146304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657600" cy="146304"/>
            </a:xfrm>
            <a:custGeom>
              <a:avLst/>
              <a:gdLst/>
              <a:ahLst/>
              <a:cxnLst/>
              <a:rect r="r" b="b" t="t" l="l"/>
              <a:pathLst>
                <a:path h="14630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4996160" y="3072384"/>
            <a:ext cx="2743200" cy="548640"/>
            <a:chOff x="0" y="0"/>
            <a:chExt cx="3657600" cy="73152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3657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Evaluation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4996160" y="3657600"/>
            <a:ext cx="2743200" cy="1097280"/>
            <a:chOff x="0" y="0"/>
            <a:chExt cx="3657600" cy="146304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3657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3657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Acc, F1, AUC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10-fold CV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353063" y="5290823"/>
            <a:ext cx="8255003" cy="3865883"/>
            <a:chOff x="0" y="0"/>
            <a:chExt cx="11006671" cy="5154511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16891" y="16891"/>
              <a:ext cx="10972800" cy="5120640"/>
            </a:xfrm>
            <a:custGeom>
              <a:avLst/>
              <a:gdLst/>
              <a:ahLst/>
              <a:cxnLst/>
              <a:rect r="r" b="b" t="t" l="l"/>
              <a:pathLst>
                <a:path h="5120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1006582" cy="5154422"/>
            </a:xfrm>
            <a:custGeom>
              <a:avLst/>
              <a:gdLst/>
              <a:ahLst/>
              <a:cxnLst/>
              <a:rect r="r" b="b" t="t" l="l"/>
              <a:pathLst>
                <a:path h="515442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5137531"/>
                  </a:lnTo>
                  <a:cubicBezTo>
                    <a:pt x="11006582" y="5146929"/>
                    <a:pt x="10998962" y="5154422"/>
                    <a:pt x="1098969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10989691" y="5120640"/>
                  </a:lnTo>
                  <a:lnTo>
                    <a:pt x="10989691" y="5137531"/>
                  </a:lnTo>
                  <a:lnTo>
                    <a:pt x="10972800" y="513753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365760" y="5303520"/>
            <a:ext cx="146304" cy="3840480"/>
            <a:chOff x="0" y="0"/>
            <a:chExt cx="195072" cy="512064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95072" cy="5120640"/>
            </a:xfrm>
            <a:custGeom>
              <a:avLst/>
              <a:gdLst/>
              <a:ahLst/>
              <a:cxnLst/>
              <a:rect r="r" b="b" t="t" l="l"/>
              <a:pathLst>
                <a:path h="512064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768096" y="5394960"/>
            <a:ext cx="7680960" cy="548640"/>
            <a:chOff x="0" y="0"/>
            <a:chExt cx="10241280" cy="73152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102412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Preprocessing Details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768096" y="5998464"/>
            <a:ext cx="7680960" cy="493776"/>
            <a:chOff x="0" y="0"/>
            <a:chExt cx="10241280" cy="658368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0241280" cy="658368"/>
            </a:xfrm>
            <a:custGeom>
              <a:avLst/>
              <a:gdLst/>
              <a:ahLst/>
              <a:cxnLst/>
              <a:rect r="r" b="b" t="t" l="l"/>
              <a:pathLst>
                <a:path h="65836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38100"/>
              <a:ext cx="1024128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Image resizing: 224×224 pixels (ViT-compatible)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768096" y="6492240"/>
            <a:ext cx="7680960" cy="493776"/>
            <a:chOff x="0" y="0"/>
            <a:chExt cx="10241280" cy="658368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0241280" cy="658368"/>
            </a:xfrm>
            <a:custGeom>
              <a:avLst/>
              <a:gdLst/>
              <a:ahLst/>
              <a:cxnLst/>
              <a:rect r="r" b="b" t="t" l="l"/>
              <a:pathLst>
                <a:path h="65836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38100"/>
              <a:ext cx="1024128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Pixel normalization: rescale = 1/255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768096" y="6986016"/>
            <a:ext cx="7680960" cy="493776"/>
            <a:chOff x="0" y="0"/>
            <a:chExt cx="10241280" cy="658368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0241280" cy="658368"/>
            </a:xfrm>
            <a:custGeom>
              <a:avLst/>
              <a:gdLst/>
              <a:ahLst/>
              <a:cxnLst/>
              <a:rect r="r" b="b" t="t" l="l"/>
              <a:pathLst>
                <a:path h="65836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38100"/>
              <a:ext cx="1024128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Z-normalization: Xb = (X[i] - μi) / σi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768096" y="7479792"/>
            <a:ext cx="7680960" cy="493776"/>
            <a:chOff x="0" y="0"/>
            <a:chExt cx="10241280" cy="658368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10241280" cy="658368"/>
            </a:xfrm>
            <a:custGeom>
              <a:avLst/>
              <a:gdLst/>
              <a:ahLst/>
              <a:cxnLst/>
              <a:rect r="r" b="b" t="t" l="l"/>
              <a:pathLst>
                <a:path h="65836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38100"/>
              <a:ext cx="1024128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Color mode: RGB (3-channel tensors)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768096" y="7973568"/>
            <a:ext cx="7680960" cy="493776"/>
            <a:chOff x="0" y="0"/>
            <a:chExt cx="10241280" cy="658368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0241280" cy="658368"/>
            </a:xfrm>
            <a:custGeom>
              <a:avLst/>
              <a:gdLst/>
              <a:ahLst/>
              <a:cxnLst/>
              <a:rect r="r" b="b" t="t" l="l"/>
              <a:pathLst>
                <a:path h="65836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38100"/>
              <a:ext cx="1024128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Batch size: 16 | No stochastic augmentation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768096" y="8467344"/>
            <a:ext cx="7680960" cy="493776"/>
            <a:chOff x="0" y="0"/>
            <a:chExt cx="10241280" cy="658368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10241280" cy="658368"/>
            </a:xfrm>
            <a:custGeom>
              <a:avLst/>
              <a:gdLst/>
              <a:ahLst/>
              <a:cxnLst/>
              <a:rect r="r" b="b" t="t" l="l"/>
              <a:pathLst>
                <a:path h="65836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-38100"/>
              <a:ext cx="1024128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Oversampling on training only (1,300/class balanced)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8948423" y="5290823"/>
            <a:ext cx="8986523" cy="3865883"/>
            <a:chOff x="0" y="0"/>
            <a:chExt cx="11982031" cy="5154511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16891" y="16891"/>
              <a:ext cx="11948160" cy="5120640"/>
            </a:xfrm>
            <a:custGeom>
              <a:avLst/>
              <a:gdLst/>
              <a:ahLst/>
              <a:cxnLst/>
              <a:rect r="r" b="b" t="t" l="l"/>
              <a:pathLst>
                <a:path h="512064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11981942" cy="5154422"/>
            </a:xfrm>
            <a:custGeom>
              <a:avLst/>
              <a:gdLst/>
              <a:ahLst/>
              <a:cxnLst/>
              <a:rect r="r" b="b" t="t" l="l"/>
              <a:pathLst>
                <a:path h="5154422" w="11981942">
                  <a:moveTo>
                    <a:pt x="16891" y="0"/>
                  </a:moveTo>
                  <a:lnTo>
                    <a:pt x="11965051" y="0"/>
                  </a:lnTo>
                  <a:cubicBezTo>
                    <a:pt x="11974449" y="0"/>
                    <a:pt x="11981942" y="7620"/>
                    <a:pt x="11981942" y="16891"/>
                  </a:cubicBezTo>
                  <a:lnTo>
                    <a:pt x="11981942" y="5137531"/>
                  </a:lnTo>
                  <a:cubicBezTo>
                    <a:pt x="11981942" y="5146929"/>
                    <a:pt x="11974322" y="5154422"/>
                    <a:pt x="1196505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11965051" y="5120640"/>
                  </a:lnTo>
                  <a:lnTo>
                    <a:pt x="11965051" y="5137531"/>
                  </a:lnTo>
                  <a:lnTo>
                    <a:pt x="11948160" y="5137531"/>
                  </a:lnTo>
                  <a:lnTo>
                    <a:pt x="11948160" y="16891"/>
                  </a:lnTo>
                  <a:lnTo>
                    <a:pt x="11965051" y="16891"/>
                  </a:lnTo>
                  <a:lnTo>
                    <a:pt x="11965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8961120" y="5303520"/>
            <a:ext cx="146304" cy="3840480"/>
            <a:chOff x="0" y="0"/>
            <a:chExt cx="195072" cy="5120640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195072" cy="5120640"/>
            </a:xfrm>
            <a:custGeom>
              <a:avLst/>
              <a:gdLst/>
              <a:ahLst/>
              <a:cxnLst/>
              <a:rect r="r" b="b" t="t" l="l"/>
              <a:pathLst>
                <a:path h="512064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9326880" y="5394960"/>
            <a:ext cx="8229600" cy="548640"/>
            <a:chOff x="0" y="0"/>
            <a:chExt cx="10972800" cy="73152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38100"/>
              <a:ext cx="10972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Training Configuration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9326880" y="5998464"/>
            <a:ext cx="8229600" cy="493776"/>
            <a:chOff x="0" y="0"/>
            <a:chExt cx="10972800" cy="658368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0972800" cy="658368"/>
            </a:xfrm>
            <a:custGeom>
              <a:avLst/>
              <a:gdLst/>
              <a:ahLst/>
              <a:cxnLst/>
              <a:rect r="r" b="b" t="t" l="l"/>
              <a:pathLst>
                <a:path h="65836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38100"/>
              <a:ext cx="1097280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Optimizer: Adam (lr = 1×10⁻⁵)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9326880" y="6492240"/>
            <a:ext cx="8229600" cy="493776"/>
            <a:chOff x="0" y="0"/>
            <a:chExt cx="10972800" cy="658368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10972800" cy="658368"/>
            </a:xfrm>
            <a:custGeom>
              <a:avLst/>
              <a:gdLst/>
              <a:ahLst/>
              <a:cxnLst/>
              <a:rect r="r" b="b" t="t" l="l"/>
              <a:pathLst>
                <a:path h="65836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38100"/>
              <a:ext cx="1097280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Loss: Sparse Categorical Cross-Entropy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9326880" y="6986016"/>
            <a:ext cx="8229600" cy="493776"/>
            <a:chOff x="0" y="0"/>
            <a:chExt cx="10972800" cy="658368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10972800" cy="658368"/>
            </a:xfrm>
            <a:custGeom>
              <a:avLst/>
              <a:gdLst/>
              <a:ahLst/>
              <a:cxnLst/>
              <a:rect r="r" b="b" t="t" l="l"/>
              <a:pathLst>
                <a:path h="65836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38100"/>
              <a:ext cx="1097280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Early Stopping: patience = 5 (restore best weights)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9326880" y="7479792"/>
            <a:ext cx="8229600" cy="493776"/>
            <a:chOff x="0" y="0"/>
            <a:chExt cx="10972800" cy="658368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10972800" cy="658368"/>
            </a:xfrm>
            <a:custGeom>
              <a:avLst/>
              <a:gdLst/>
              <a:ahLst/>
              <a:cxnLst/>
              <a:rect r="r" b="b" t="t" l="l"/>
              <a:pathLst>
                <a:path h="65836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38100"/>
              <a:ext cx="1097280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Two-phase training strategy for convergence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9326880" y="7973568"/>
            <a:ext cx="8229600" cy="493776"/>
            <a:chOff x="0" y="0"/>
            <a:chExt cx="10972800" cy="658368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10972800" cy="658368"/>
            </a:xfrm>
            <a:custGeom>
              <a:avLst/>
              <a:gdLst/>
              <a:ahLst/>
              <a:cxnLst/>
              <a:rect r="r" b="b" t="t" l="l"/>
              <a:pathLst>
                <a:path h="65836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38100"/>
              <a:ext cx="1097280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Hardware: Google Colab Pro (26.3 GB RAM, 16 GB GPU)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9326880" y="8467344"/>
            <a:ext cx="8229600" cy="493776"/>
            <a:chOff x="0" y="0"/>
            <a:chExt cx="10972800" cy="658368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10972800" cy="658368"/>
            </a:xfrm>
            <a:custGeom>
              <a:avLst/>
              <a:gdLst/>
              <a:ahLst/>
              <a:cxnLst/>
              <a:rect r="r" b="b" t="t" l="l"/>
              <a:pathLst>
                <a:path h="65836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38100"/>
              <a:ext cx="1097280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Max epochs: 100 | 10-fold cross-validation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0" y="9692640"/>
            <a:ext cx="18288000" cy="585216"/>
            <a:chOff x="0" y="0"/>
            <a:chExt cx="24384000" cy="780288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24384000" cy="780288"/>
            </a:xfrm>
            <a:custGeom>
              <a:avLst/>
              <a:gdLst/>
              <a:ahLst/>
              <a:cxnLst/>
              <a:rect r="r" b="b" t="t" l="l"/>
              <a:pathLst>
                <a:path h="7802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5544800" cy="1371600"/>
            <a:chOff x="0" y="0"/>
            <a:chExt cx="2072640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072640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DEEP LEARNING MODELS IMPLEMENTED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910560" y="91440"/>
            <a:ext cx="1645920" cy="1060704"/>
            <a:chOff x="0" y="0"/>
            <a:chExt cx="2194560" cy="141427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19456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414272"/>
                  </a:lnTo>
                  <a:lnTo>
                    <a:pt x="0" y="1414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42" r="0" b="-14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53063" y="1596647"/>
            <a:ext cx="5603243" cy="3591563"/>
            <a:chOff x="0" y="0"/>
            <a:chExt cx="7470991" cy="47887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6891" y="16891"/>
              <a:ext cx="7437120" cy="4754880"/>
            </a:xfrm>
            <a:custGeom>
              <a:avLst/>
              <a:gdLst/>
              <a:ahLst/>
              <a:cxnLst/>
              <a:rect r="r" b="b" t="t" l="l"/>
              <a:pathLst>
                <a:path h="475488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470901" cy="4788662"/>
            </a:xfrm>
            <a:custGeom>
              <a:avLst/>
              <a:gdLst/>
              <a:ahLst/>
              <a:cxnLst/>
              <a:rect r="r" b="b" t="t" l="l"/>
              <a:pathLst>
                <a:path h="478866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4771771"/>
                  </a:lnTo>
                  <a:cubicBezTo>
                    <a:pt x="7470901" y="4781169"/>
                    <a:pt x="7463282" y="4788662"/>
                    <a:pt x="7454011" y="4788662"/>
                  </a:cubicBezTo>
                  <a:lnTo>
                    <a:pt x="16891" y="4788662"/>
                  </a:lnTo>
                  <a:cubicBezTo>
                    <a:pt x="7493" y="4788662"/>
                    <a:pt x="0" y="4781042"/>
                    <a:pt x="0" y="4771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771771"/>
                  </a:lnTo>
                  <a:lnTo>
                    <a:pt x="16891" y="4771771"/>
                  </a:lnTo>
                  <a:lnTo>
                    <a:pt x="16891" y="4754880"/>
                  </a:lnTo>
                  <a:lnTo>
                    <a:pt x="7454011" y="4754880"/>
                  </a:lnTo>
                  <a:lnTo>
                    <a:pt x="7454011" y="4771771"/>
                  </a:lnTo>
                  <a:lnTo>
                    <a:pt x="7437120" y="4771771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65760" y="1609344"/>
            <a:ext cx="5577840" cy="109728"/>
            <a:chOff x="0" y="0"/>
            <a:chExt cx="7437120" cy="14630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37120" cy="146304"/>
            </a:xfrm>
            <a:custGeom>
              <a:avLst/>
              <a:gdLst/>
              <a:ahLst/>
              <a:cxnLst/>
              <a:rect r="r" b="b" t="t" l="l"/>
              <a:pathLst>
                <a:path h="146304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8640" y="1828800"/>
            <a:ext cx="1554480" cy="402336"/>
            <a:chOff x="0" y="0"/>
            <a:chExt cx="2072640" cy="5364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72640" cy="536448"/>
            </a:xfrm>
            <a:custGeom>
              <a:avLst/>
              <a:gdLst/>
              <a:ahLst/>
              <a:cxnLst/>
              <a:rect r="r" b="b" t="t" l="l"/>
              <a:pathLst>
                <a:path h="536448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48640" y="1828800"/>
            <a:ext cx="1554480" cy="402336"/>
            <a:chOff x="0" y="0"/>
            <a:chExt cx="2072640" cy="5364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72640" cy="536448"/>
            </a:xfrm>
            <a:custGeom>
              <a:avLst/>
              <a:gdLst/>
              <a:ahLst/>
              <a:cxnLst/>
              <a:rect r="r" b="b" t="t" l="l"/>
              <a:pathLst>
                <a:path h="536448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283" r="0" b="-2528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0726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Transformer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48640" y="2304288"/>
            <a:ext cx="5212080" cy="548640"/>
            <a:chOff x="0" y="0"/>
            <a:chExt cx="694944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949440" cy="731520"/>
            </a:xfrm>
            <a:custGeom>
              <a:avLst/>
              <a:gdLst/>
              <a:ahLst/>
              <a:cxnLst/>
              <a:rect r="r" b="b" t="t" l="l"/>
              <a:pathLst>
                <a:path h="73152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6949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Vision Transformer (ViT)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48640" y="2852928"/>
            <a:ext cx="5212080" cy="1426464"/>
            <a:chOff x="0" y="0"/>
            <a:chExt cx="6949440" cy="19019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949440" cy="1901952"/>
            </a:xfrm>
            <a:custGeom>
              <a:avLst/>
              <a:gdLst/>
              <a:ahLst/>
              <a:cxnLst/>
              <a:rect r="r" b="b" t="t" l="l"/>
              <a:pathLst>
                <a:path h="190195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5" r="0" b="-2119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6949440" cy="1940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Treats images as patch sequences. CLS token for global aggregation. Multi-head self-attention. Best performer.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291840" y="4443984"/>
            <a:ext cx="2468880" cy="548640"/>
            <a:chOff x="0" y="0"/>
            <a:chExt cx="329184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3291840" y="4443984"/>
            <a:ext cx="2468880" cy="548640"/>
            <a:chOff x="0" y="0"/>
            <a:chExt cx="329184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291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Acc: 99.37%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296663" y="1596647"/>
            <a:ext cx="5603243" cy="3591563"/>
            <a:chOff x="0" y="0"/>
            <a:chExt cx="7470991" cy="478875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6891" y="16891"/>
              <a:ext cx="7437120" cy="4754880"/>
            </a:xfrm>
            <a:custGeom>
              <a:avLst/>
              <a:gdLst/>
              <a:ahLst/>
              <a:cxnLst/>
              <a:rect r="r" b="b" t="t" l="l"/>
              <a:pathLst>
                <a:path h="475488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470901" cy="4788662"/>
            </a:xfrm>
            <a:custGeom>
              <a:avLst/>
              <a:gdLst/>
              <a:ahLst/>
              <a:cxnLst/>
              <a:rect r="r" b="b" t="t" l="l"/>
              <a:pathLst>
                <a:path h="478866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4771771"/>
                  </a:lnTo>
                  <a:cubicBezTo>
                    <a:pt x="7470901" y="4781169"/>
                    <a:pt x="7463282" y="4788662"/>
                    <a:pt x="7454011" y="4788662"/>
                  </a:cubicBezTo>
                  <a:lnTo>
                    <a:pt x="16891" y="4788662"/>
                  </a:lnTo>
                  <a:cubicBezTo>
                    <a:pt x="7493" y="4788662"/>
                    <a:pt x="0" y="4781042"/>
                    <a:pt x="0" y="4771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771771"/>
                  </a:lnTo>
                  <a:lnTo>
                    <a:pt x="16891" y="4771771"/>
                  </a:lnTo>
                  <a:lnTo>
                    <a:pt x="16891" y="4754880"/>
                  </a:lnTo>
                  <a:lnTo>
                    <a:pt x="7454011" y="4754880"/>
                  </a:lnTo>
                  <a:lnTo>
                    <a:pt x="7454011" y="4771771"/>
                  </a:lnTo>
                  <a:lnTo>
                    <a:pt x="7437120" y="4771771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309360" y="1609344"/>
            <a:ext cx="5577840" cy="109728"/>
            <a:chOff x="0" y="0"/>
            <a:chExt cx="7437120" cy="14630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437120" cy="146304"/>
            </a:xfrm>
            <a:custGeom>
              <a:avLst/>
              <a:gdLst/>
              <a:ahLst/>
              <a:cxnLst/>
              <a:rect r="r" b="b" t="t" l="l"/>
              <a:pathLst>
                <a:path h="146304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492240" y="1828800"/>
            <a:ext cx="1554480" cy="402336"/>
            <a:chOff x="0" y="0"/>
            <a:chExt cx="2072640" cy="53644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72640" cy="536448"/>
            </a:xfrm>
            <a:custGeom>
              <a:avLst/>
              <a:gdLst/>
              <a:ahLst/>
              <a:cxnLst/>
              <a:rect r="r" b="b" t="t" l="l"/>
              <a:pathLst>
                <a:path h="536448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492240" y="1828800"/>
            <a:ext cx="1554480" cy="402336"/>
            <a:chOff x="0" y="0"/>
            <a:chExt cx="2072640" cy="53644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72640" cy="536448"/>
            </a:xfrm>
            <a:custGeom>
              <a:avLst/>
              <a:gdLst/>
              <a:ahLst/>
              <a:cxnLst/>
              <a:rect r="r" b="b" t="t" l="l"/>
              <a:pathLst>
                <a:path h="536448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283" r="0" b="-2528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0726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Transformer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492240" y="2304288"/>
            <a:ext cx="5212080" cy="548640"/>
            <a:chOff x="0" y="0"/>
            <a:chExt cx="694944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949440" cy="731520"/>
            </a:xfrm>
            <a:custGeom>
              <a:avLst/>
              <a:gdLst/>
              <a:ahLst/>
              <a:cxnLst/>
              <a:rect r="r" b="b" t="t" l="l"/>
              <a:pathLst>
                <a:path h="73152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6949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DINO (Self-Supervised)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492240" y="2852928"/>
            <a:ext cx="5212080" cy="1426464"/>
            <a:chOff x="0" y="0"/>
            <a:chExt cx="6949440" cy="190195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949440" cy="1901952"/>
            </a:xfrm>
            <a:custGeom>
              <a:avLst/>
              <a:gdLst/>
              <a:ahLst/>
              <a:cxnLst/>
              <a:rect r="r" b="b" t="t" l="l"/>
              <a:pathLst>
                <a:path h="190195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5" r="0" b="-2119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6949440" cy="1940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Teacher-student architecture. No labeled data required. Enhanced Grad-CAM explainability. Semantic attention maps.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235440" y="4443984"/>
            <a:ext cx="2468880" cy="548640"/>
            <a:chOff x="0" y="0"/>
            <a:chExt cx="329184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235440" y="4443984"/>
            <a:ext cx="2468880" cy="548640"/>
            <a:chOff x="0" y="0"/>
            <a:chExt cx="3291840" cy="7315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3291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Acc: 98.00%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240263" y="1596647"/>
            <a:ext cx="5603243" cy="3591563"/>
            <a:chOff x="0" y="0"/>
            <a:chExt cx="7470991" cy="478875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16891" y="16891"/>
              <a:ext cx="7437120" cy="4754880"/>
            </a:xfrm>
            <a:custGeom>
              <a:avLst/>
              <a:gdLst/>
              <a:ahLst/>
              <a:cxnLst/>
              <a:rect r="r" b="b" t="t" l="l"/>
              <a:pathLst>
                <a:path h="475488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470901" cy="4788662"/>
            </a:xfrm>
            <a:custGeom>
              <a:avLst/>
              <a:gdLst/>
              <a:ahLst/>
              <a:cxnLst/>
              <a:rect r="r" b="b" t="t" l="l"/>
              <a:pathLst>
                <a:path h="478866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4771771"/>
                  </a:lnTo>
                  <a:cubicBezTo>
                    <a:pt x="7470901" y="4781169"/>
                    <a:pt x="7463282" y="4788662"/>
                    <a:pt x="7454011" y="4788662"/>
                  </a:cubicBezTo>
                  <a:lnTo>
                    <a:pt x="16891" y="4788662"/>
                  </a:lnTo>
                  <a:cubicBezTo>
                    <a:pt x="7493" y="4788662"/>
                    <a:pt x="0" y="4781042"/>
                    <a:pt x="0" y="4771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771771"/>
                  </a:lnTo>
                  <a:lnTo>
                    <a:pt x="16891" y="4771771"/>
                  </a:lnTo>
                  <a:lnTo>
                    <a:pt x="16891" y="4754880"/>
                  </a:lnTo>
                  <a:lnTo>
                    <a:pt x="7454011" y="4754880"/>
                  </a:lnTo>
                  <a:lnTo>
                    <a:pt x="7454011" y="4771771"/>
                  </a:lnTo>
                  <a:lnTo>
                    <a:pt x="7437120" y="4771771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2252960" y="1609344"/>
            <a:ext cx="5577840" cy="109728"/>
            <a:chOff x="0" y="0"/>
            <a:chExt cx="7437120" cy="14630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437120" cy="146304"/>
            </a:xfrm>
            <a:custGeom>
              <a:avLst/>
              <a:gdLst/>
              <a:ahLst/>
              <a:cxnLst/>
              <a:rect r="r" b="b" t="t" l="l"/>
              <a:pathLst>
                <a:path h="146304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435840" y="1828800"/>
            <a:ext cx="1554480" cy="402336"/>
            <a:chOff x="0" y="0"/>
            <a:chExt cx="2072640" cy="53644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072640" cy="536448"/>
            </a:xfrm>
            <a:custGeom>
              <a:avLst/>
              <a:gdLst/>
              <a:ahLst/>
              <a:cxnLst/>
              <a:rect r="r" b="b" t="t" l="l"/>
              <a:pathLst>
                <a:path h="536448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2435840" y="1828800"/>
            <a:ext cx="1554480" cy="402336"/>
            <a:chOff x="0" y="0"/>
            <a:chExt cx="2072640" cy="53644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072640" cy="536448"/>
            </a:xfrm>
            <a:custGeom>
              <a:avLst/>
              <a:gdLst/>
              <a:ahLst/>
              <a:cxnLst/>
              <a:rect r="r" b="b" t="t" l="l"/>
              <a:pathLst>
                <a:path h="536448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283" r="0" b="-25283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20726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CNN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435840" y="2304288"/>
            <a:ext cx="5212080" cy="548640"/>
            <a:chOff x="0" y="0"/>
            <a:chExt cx="6949440" cy="7315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949440" cy="731520"/>
            </a:xfrm>
            <a:custGeom>
              <a:avLst/>
              <a:gdLst/>
              <a:ahLst/>
              <a:cxnLst/>
              <a:rect r="r" b="b" t="t" l="l"/>
              <a:pathLst>
                <a:path h="73152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6949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VGG16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2435840" y="2852928"/>
            <a:ext cx="5212080" cy="1426464"/>
            <a:chOff x="0" y="0"/>
            <a:chExt cx="6949440" cy="190195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949440" cy="1901952"/>
            </a:xfrm>
            <a:custGeom>
              <a:avLst/>
              <a:gdLst/>
              <a:ahLst/>
              <a:cxnLst/>
              <a:rect r="r" b="b" t="t" l="l"/>
              <a:pathLst>
                <a:path h="190195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5" r="0" b="-2119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6949440" cy="1940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Pre-trained CNN with modified head. Global avg pooling + dense + dropout. Efficient feature extraction.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5179040" y="4443984"/>
            <a:ext cx="2468880" cy="548640"/>
            <a:chOff x="0" y="0"/>
            <a:chExt cx="3291840" cy="73152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5179040" y="4443984"/>
            <a:ext cx="2468880" cy="548640"/>
            <a:chOff x="0" y="0"/>
            <a:chExt cx="3291840" cy="7315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3291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Acc: 98.47%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353063" y="5528567"/>
            <a:ext cx="5603243" cy="3591563"/>
            <a:chOff x="0" y="0"/>
            <a:chExt cx="7470991" cy="4788751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16891" y="16891"/>
              <a:ext cx="7437120" cy="4754880"/>
            </a:xfrm>
            <a:custGeom>
              <a:avLst/>
              <a:gdLst/>
              <a:ahLst/>
              <a:cxnLst/>
              <a:rect r="r" b="b" t="t" l="l"/>
              <a:pathLst>
                <a:path h="475488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470901" cy="4788662"/>
            </a:xfrm>
            <a:custGeom>
              <a:avLst/>
              <a:gdLst/>
              <a:ahLst/>
              <a:cxnLst/>
              <a:rect r="r" b="b" t="t" l="l"/>
              <a:pathLst>
                <a:path h="478866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4771771"/>
                  </a:lnTo>
                  <a:cubicBezTo>
                    <a:pt x="7470901" y="4781169"/>
                    <a:pt x="7463282" y="4788662"/>
                    <a:pt x="7454011" y="4788662"/>
                  </a:cubicBezTo>
                  <a:lnTo>
                    <a:pt x="16891" y="4788662"/>
                  </a:lnTo>
                  <a:cubicBezTo>
                    <a:pt x="7493" y="4788662"/>
                    <a:pt x="0" y="4781042"/>
                    <a:pt x="0" y="4771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771771"/>
                  </a:lnTo>
                  <a:lnTo>
                    <a:pt x="16891" y="4771771"/>
                  </a:lnTo>
                  <a:lnTo>
                    <a:pt x="16891" y="4754880"/>
                  </a:lnTo>
                  <a:lnTo>
                    <a:pt x="7454011" y="4754880"/>
                  </a:lnTo>
                  <a:lnTo>
                    <a:pt x="7454011" y="4771771"/>
                  </a:lnTo>
                  <a:lnTo>
                    <a:pt x="7437120" y="4771771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365760" y="5541264"/>
            <a:ext cx="5577840" cy="109728"/>
            <a:chOff x="0" y="0"/>
            <a:chExt cx="7437120" cy="14630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437120" cy="146304"/>
            </a:xfrm>
            <a:custGeom>
              <a:avLst/>
              <a:gdLst/>
              <a:ahLst/>
              <a:cxnLst/>
              <a:rect r="r" b="b" t="t" l="l"/>
              <a:pathLst>
                <a:path h="146304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548640" y="5760720"/>
            <a:ext cx="1554480" cy="402336"/>
            <a:chOff x="0" y="0"/>
            <a:chExt cx="2072640" cy="53644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072640" cy="536448"/>
            </a:xfrm>
            <a:custGeom>
              <a:avLst/>
              <a:gdLst/>
              <a:ahLst/>
              <a:cxnLst/>
              <a:rect r="r" b="b" t="t" l="l"/>
              <a:pathLst>
                <a:path h="536448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548640" y="5760720"/>
            <a:ext cx="1554480" cy="402336"/>
            <a:chOff x="0" y="0"/>
            <a:chExt cx="2072640" cy="53644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072640" cy="536448"/>
            </a:xfrm>
            <a:custGeom>
              <a:avLst/>
              <a:gdLst/>
              <a:ahLst/>
              <a:cxnLst/>
              <a:rect r="r" b="b" t="t" l="l"/>
              <a:pathLst>
                <a:path h="536448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283" r="0" b="-25283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20726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Transformer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548640" y="6236208"/>
            <a:ext cx="5212080" cy="548640"/>
            <a:chOff x="0" y="0"/>
            <a:chExt cx="6949440" cy="73152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949440" cy="731520"/>
            </a:xfrm>
            <a:custGeom>
              <a:avLst/>
              <a:gdLst/>
              <a:ahLst/>
              <a:cxnLst/>
              <a:rect r="r" b="b" t="t" l="l"/>
              <a:pathLst>
                <a:path h="73152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6949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EANet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548640" y="6784848"/>
            <a:ext cx="5212080" cy="1426464"/>
            <a:chOff x="0" y="0"/>
            <a:chExt cx="6949440" cy="190195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949440" cy="1901952"/>
            </a:xfrm>
            <a:custGeom>
              <a:avLst/>
              <a:gdLst/>
              <a:ahLst/>
              <a:cxnLst/>
              <a:rect r="r" b="b" t="t" l="l"/>
              <a:pathLst>
                <a:path h="190195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5" r="0" b="-21195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6949440" cy="1940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External attention mechanism using shared learnable memory Mk and Mv. Reduces redundancy efficiently.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3291840" y="8375904"/>
            <a:ext cx="2468880" cy="548640"/>
            <a:chOff x="0" y="0"/>
            <a:chExt cx="3291840" cy="73152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3291840" y="8375904"/>
            <a:ext cx="2468880" cy="548640"/>
            <a:chOff x="0" y="0"/>
            <a:chExt cx="3291840" cy="73152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3291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Acc: 98.35%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6296663" y="5528567"/>
            <a:ext cx="5603243" cy="3591563"/>
            <a:chOff x="0" y="0"/>
            <a:chExt cx="7470991" cy="4788751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16891" y="16891"/>
              <a:ext cx="7437120" cy="4754880"/>
            </a:xfrm>
            <a:custGeom>
              <a:avLst/>
              <a:gdLst/>
              <a:ahLst/>
              <a:cxnLst/>
              <a:rect r="r" b="b" t="t" l="l"/>
              <a:pathLst>
                <a:path h="475488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7470901" cy="4788662"/>
            </a:xfrm>
            <a:custGeom>
              <a:avLst/>
              <a:gdLst/>
              <a:ahLst/>
              <a:cxnLst/>
              <a:rect r="r" b="b" t="t" l="l"/>
              <a:pathLst>
                <a:path h="478866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4771771"/>
                  </a:lnTo>
                  <a:cubicBezTo>
                    <a:pt x="7470901" y="4781169"/>
                    <a:pt x="7463282" y="4788662"/>
                    <a:pt x="7454011" y="4788662"/>
                  </a:cubicBezTo>
                  <a:lnTo>
                    <a:pt x="16891" y="4788662"/>
                  </a:lnTo>
                  <a:cubicBezTo>
                    <a:pt x="7493" y="4788662"/>
                    <a:pt x="0" y="4781042"/>
                    <a:pt x="0" y="4771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771771"/>
                  </a:lnTo>
                  <a:lnTo>
                    <a:pt x="16891" y="4771771"/>
                  </a:lnTo>
                  <a:lnTo>
                    <a:pt x="16891" y="4754880"/>
                  </a:lnTo>
                  <a:lnTo>
                    <a:pt x="7454011" y="4754880"/>
                  </a:lnTo>
                  <a:lnTo>
                    <a:pt x="7454011" y="4771771"/>
                  </a:lnTo>
                  <a:lnTo>
                    <a:pt x="7437120" y="4771771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6309360" y="5541264"/>
            <a:ext cx="5577840" cy="109728"/>
            <a:chOff x="0" y="0"/>
            <a:chExt cx="7437120" cy="146304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7437120" cy="146304"/>
            </a:xfrm>
            <a:custGeom>
              <a:avLst/>
              <a:gdLst/>
              <a:ahLst/>
              <a:cxnLst/>
              <a:rect r="r" b="b" t="t" l="l"/>
              <a:pathLst>
                <a:path h="146304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6492240" y="5760720"/>
            <a:ext cx="1554480" cy="402336"/>
            <a:chOff x="0" y="0"/>
            <a:chExt cx="2072640" cy="53644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072640" cy="536448"/>
            </a:xfrm>
            <a:custGeom>
              <a:avLst/>
              <a:gdLst/>
              <a:ahLst/>
              <a:cxnLst/>
              <a:rect r="r" b="b" t="t" l="l"/>
              <a:pathLst>
                <a:path h="536448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6492240" y="5760720"/>
            <a:ext cx="1554480" cy="402336"/>
            <a:chOff x="0" y="0"/>
            <a:chExt cx="2072640" cy="53644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072640" cy="536448"/>
            </a:xfrm>
            <a:custGeom>
              <a:avLst/>
              <a:gdLst/>
              <a:ahLst/>
              <a:cxnLst/>
              <a:rect r="r" b="b" t="t" l="l"/>
              <a:pathLst>
                <a:path h="536448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283" r="0" b="-25283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20726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Transformer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6492240" y="6236208"/>
            <a:ext cx="5212080" cy="548640"/>
            <a:chOff x="0" y="0"/>
            <a:chExt cx="6949440" cy="73152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6949440" cy="731520"/>
            </a:xfrm>
            <a:custGeom>
              <a:avLst/>
              <a:gdLst/>
              <a:ahLst/>
              <a:cxnLst/>
              <a:rect r="r" b="b" t="t" l="l"/>
              <a:pathLst>
                <a:path h="73152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47625"/>
              <a:ext cx="6949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Swin Transformer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6492240" y="6784848"/>
            <a:ext cx="5212080" cy="1426464"/>
            <a:chOff x="0" y="0"/>
            <a:chExt cx="6949440" cy="1901952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6949440" cy="1901952"/>
            </a:xfrm>
            <a:custGeom>
              <a:avLst/>
              <a:gdLst/>
              <a:ahLst/>
              <a:cxnLst/>
              <a:rect r="r" b="b" t="t" l="l"/>
              <a:pathLst>
                <a:path h="190195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5" r="0" b="-21195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6949440" cy="1940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Shifted window self-attention. Hierarchical stages. Balances local and global feature extraction.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9235440" y="8375904"/>
            <a:ext cx="2468880" cy="548640"/>
            <a:chOff x="0" y="0"/>
            <a:chExt cx="3291840" cy="73152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9235440" y="8375904"/>
            <a:ext cx="2468880" cy="548640"/>
            <a:chOff x="0" y="0"/>
            <a:chExt cx="3291840" cy="73152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3291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Acc: 97.27%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2240263" y="5528567"/>
            <a:ext cx="5603243" cy="3591563"/>
            <a:chOff x="0" y="0"/>
            <a:chExt cx="7470991" cy="4788751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16891" y="16891"/>
              <a:ext cx="7437120" cy="4754880"/>
            </a:xfrm>
            <a:custGeom>
              <a:avLst/>
              <a:gdLst/>
              <a:ahLst/>
              <a:cxnLst/>
              <a:rect r="r" b="b" t="t" l="l"/>
              <a:pathLst>
                <a:path h="475488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7470901" cy="4788662"/>
            </a:xfrm>
            <a:custGeom>
              <a:avLst/>
              <a:gdLst/>
              <a:ahLst/>
              <a:cxnLst/>
              <a:rect r="r" b="b" t="t" l="l"/>
              <a:pathLst>
                <a:path h="478866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4771771"/>
                  </a:lnTo>
                  <a:cubicBezTo>
                    <a:pt x="7470901" y="4781169"/>
                    <a:pt x="7463282" y="4788662"/>
                    <a:pt x="7454011" y="4788662"/>
                  </a:cubicBezTo>
                  <a:lnTo>
                    <a:pt x="16891" y="4788662"/>
                  </a:lnTo>
                  <a:cubicBezTo>
                    <a:pt x="7493" y="4788662"/>
                    <a:pt x="0" y="4781042"/>
                    <a:pt x="0" y="4771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771771"/>
                  </a:lnTo>
                  <a:lnTo>
                    <a:pt x="16891" y="4771771"/>
                  </a:lnTo>
                  <a:lnTo>
                    <a:pt x="16891" y="4754880"/>
                  </a:lnTo>
                  <a:lnTo>
                    <a:pt x="7454011" y="4754880"/>
                  </a:lnTo>
                  <a:lnTo>
                    <a:pt x="7454011" y="4771771"/>
                  </a:lnTo>
                  <a:lnTo>
                    <a:pt x="7437120" y="4771771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2252960" y="5541264"/>
            <a:ext cx="5577840" cy="109728"/>
            <a:chOff x="0" y="0"/>
            <a:chExt cx="7437120" cy="146304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7437120" cy="146304"/>
            </a:xfrm>
            <a:custGeom>
              <a:avLst/>
              <a:gdLst/>
              <a:ahLst/>
              <a:cxnLst/>
              <a:rect r="r" b="b" t="t" l="l"/>
              <a:pathLst>
                <a:path h="146304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2435840" y="5760720"/>
            <a:ext cx="1554480" cy="402336"/>
            <a:chOff x="0" y="0"/>
            <a:chExt cx="2072640" cy="536448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072640" cy="536448"/>
            </a:xfrm>
            <a:custGeom>
              <a:avLst/>
              <a:gdLst/>
              <a:ahLst/>
              <a:cxnLst/>
              <a:rect r="r" b="b" t="t" l="l"/>
              <a:pathLst>
                <a:path h="536448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12435840" y="5760720"/>
            <a:ext cx="1554480" cy="402336"/>
            <a:chOff x="0" y="0"/>
            <a:chExt cx="2072640" cy="536448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2072640" cy="536448"/>
            </a:xfrm>
            <a:custGeom>
              <a:avLst/>
              <a:gdLst/>
              <a:ahLst/>
              <a:cxnLst/>
              <a:rect r="r" b="b" t="t" l="l"/>
              <a:pathLst>
                <a:path h="536448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283" r="0" b="-25283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20726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CNN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2435840" y="6236208"/>
            <a:ext cx="5212080" cy="548640"/>
            <a:chOff x="0" y="0"/>
            <a:chExt cx="6949440" cy="73152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949440" cy="731520"/>
            </a:xfrm>
            <a:custGeom>
              <a:avLst/>
              <a:gdLst/>
              <a:ahLst/>
              <a:cxnLst/>
              <a:rect r="r" b="b" t="t" l="l"/>
              <a:pathLst>
                <a:path h="73152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47625"/>
              <a:ext cx="6949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ResNet50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2435840" y="6784848"/>
            <a:ext cx="5212080" cy="1426464"/>
            <a:chOff x="0" y="0"/>
            <a:chExt cx="6949440" cy="1901952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6949440" cy="1901952"/>
            </a:xfrm>
            <a:custGeom>
              <a:avLst/>
              <a:gdLst/>
              <a:ahLst/>
              <a:cxnLst/>
              <a:rect r="r" b="b" t="t" l="l"/>
              <a:pathLst>
                <a:path h="190195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5" r="0" b="-21195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38100"/>
              <a:ext cx="6949440" cy="1940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Residual skip connections for gradient flow. Pre-trained, fine-tuned top layers. Lower localization.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15179040" y="8375904"/>
            <a:ext cx="2468880" cy="548640"/>
            <a:chOff x="0" y="0"/>
            <a:chExt cx="3291840" cy="73152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15179040" y="8375904"/>
            <a:ext cx="2468880" cy="548640"/>
            <a:chOff x="0" y="0"/>
            <a:chExt cx="3291840" cy="73152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38100"/>
              <a:ext cx="3291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Acc: 94.02%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0" y="9692640"/>
            <a:ext cx="18288000" cy="585216"/>
            <a:chOff x="0" y="0"/>
            <a:chExt cx="24384000" cy="780288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24384000" cy="780288"/>
            </a:xfrm>
            <a:custGeom>
              <a:avLst/>
              <a:gdLst/>
              <a:ahLst/>
              <a:cxnLst/>
              <a:rect r="r" b="b" t="t" l="l"/>
              <a:pathLst>
                <a:path h="7802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5544800" cy="1371600"/>
            <a:chOff x="0" y="0"/>
            <a:chExt cx="2072640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072640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GRAD-CAM HEATMAP VISUALIZATIONS (from Paper)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910560" y="91440"/>
            <a:ext cx="1645920" cy="1060704"/>
            <a:chOff x="0" y="0"/>
            <a:chExt cx="2194560" cy="141427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19456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194560">
                  <a:moveTo>
                    <a:pt x="127000" y="0"/>
                  </a:moveTo>
                  <a:lnTo>
                    <a:pt x="2067560" y="0"/>
                  </a:lnTo>
                  <a:cubicBezTo>
                    <a:pt x="2137700" y="0"/>
                    <a:pt x="2194560" y="56860"/>
                    <a:pt x="2194560" y="127000"/>
                  </a:cubicBezTo>
                  <a:lnTo>
                    <a:pt x="2194560" y="1287272"/>
                  </a:lnTo>
                  <a:cubicBezTo>
                    <a:pt x="2194560" y="1320955"/>
                    <a:pt x="2181180" y="1353257"/>
                    <a:pt x="2157363" y="1377075"/>
                  </a:cubicBezTo>
                  <a:cubicBezTo>
                    <a:pt x="2133546" y="1400892"/>
                    <a:pt x="2101242" y="1414272"/>
                    <a:pt x="2067560" y="1414272"/>
                  </a:cubicBezTo>
                  <a:lnTo>
                    <a:pt x="127000" y="1414272"/>
                  </a:lnTo>
                  <a:cubicBezTo>
                    <a:pt x="93318" y="1414272"/>
                    <a:pt x="61015" y="1400892"/>
                    <a:pt x="37197" y="1377075"/>
                  </a:cubicBezTo>
                  <a:cubicBezTo>
                    <a:pt x="13380" y="1353257"/>
                    <a:pt x="0" y="1320955"/>
                    <a:pt x="0" y="1287272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42" r="0" b="-14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731520" y="1441966"/>
            <a:ext cx="16527780" cy="7403068"/>
            <a:chOff x="0" y="0"/>
            <a:chExt cx="23408640" cy="1048512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23408639" cy="10485120"/>
            </a:xfrm>
            <a:custGeom>
              <a:avLst/>
              <a:gdLst/>
              <a:ahLst/>
              <a:cxnLst/>
              <a:rect r="r" b="b" t="t" l="l"/>
              <a:pathLst>
                <a:path h="10485120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10485120"/>
                  </a:lnTo>
                  <a:lnTo>
                    <a:pt x="0" y="10485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69009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65760" y="9235440"/>
            <a:ext cx="4114800" cy="365760"/>
            <a:chOff x="0" y="0"/>
            <a:chExt cx="5486400" cy="487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487680"/>
            </a:xfrm>
            <a:custGeom>
              <a:avLst/>
              <a:gdLst/>
              <a:ahLst/>
              <a:cxnLst/>
              <a:rect r="r" b="b" t="t" l="l"/>
              <a:pathLst>
                <a:path h="487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365760" y="9235440"/>
            <a:ext cx="4114800" cy="365760"/>
            <a:chOff x="0" y="0"/>
            <a:chExt cx="5486400" cy="4876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86400" cy="487680"/>
            </a:xfrm>
            <a:custGeom>
              <a:avLst/>
              <a:gdLst/>
              <a:ahLst/>
              <a:cxnLst/>
              <a:rect r="r" b="b" t="t" l="l"/>
              <a:pathLst>
                <a:path h="487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486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Row 1–2: ViT model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754880" y="9235440"/>
            <a:ext cx="4114800" cy="365760"/>
            <a:chOff x="0" y="0"/>
            <a:chExt cx="5486400" cy="4876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486400" cy="487680"/>
            </a:xfrm>
            <a:custGeom>
              <a:avLst/>
              <a:gdLst/>
              <a:ahLst/>
              <a:cxnLst/>
              <a:rect r="r" b="b" t="t" l="l"/>
              <a:pathLst>
                <a:path h="487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754880" y="9235440"/>
            <a:ext cx="4114800" cy="365760"/>
            <a:chOff x="0" y="0"/>
            <a:chExt cx="5486400" cy="4876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86400" cy="487680"/>
            </a:xfrm>
            <a:custGeom>
              <a:avLst/>
              <a:gdLst/>
              <a:ahLst/>
              <a:cxnLst/>
              <a:rect r="r" b="b" t="t" l="l"/>
              <a:pathLst>
                <a:path h="487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486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Row 3–4: DINO model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44000" y="9235440"/>
            <a:ext cx="4114800" cy="365760"/>
            <a:chOff x="0" y="0"/>
            <a:chExt cx="5486400" cy="4876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86400" cy="487680"/>
            </a:xfrm>
            <a:custGeom>
              <a:avLst/>
              <a:gdLst/>
              <a:ahLst/>
              <a:cxnLst/>
              <a:rect r="r" b="b" t="t" l="l"/>
              <a:pathLst>
                <a:path h="487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144000" y="9235440"/>
            <a:ext cx="4114800" cy="365760"/>
            <a:chOff x="0" y="0"/>
            <a:chExt cx="5486400" cy="4876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486400" cy="487680"/>
            </a:xfrm>
            <a:custGeom>
              <a:avLst/>
              <a:gdLst/>
              <a:ahLst/>
              <a:cxnLst/>
              <a:rect r="r" b="b" t="t" l="l"/>
              <a:pathLst>
                <a:path h="487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5486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Row 5: ResNet50 / VGG16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533120" y="9235440"/>
            <a:ext cx="4114800" cy="365760"/>
            <a:chOff x="0" y="0"/>
            <a:chExt cx="5486400" cy="4876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487680"/>
            </a:xfrm>
            <a:custGeom>
              <a:avLst/>
              <a:gdLst/>
              <a:ahLst/>
              <a:cxnLst/>
              <a:rect r="r" b="b" t="t" l="l"/>
              <a:pathLst>
                <a:path h="487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533120" y="9235440"/>
            <a:ext cx="4114800" cy="365760"/>
            <a:chOff x="0" y="0"/>
            <a:chExt cx="5486400" cy="4876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486400" cy="487680"/>
            </a:xfrm>
            <a:custGeom>
              <a:avLst/>
              <a:gdLst/>
              <a:ahLst/>
              <a:cxnLst/>
              <a:rect r="r" b="b" t="t" l="l"/>
              <a:pathLst>
                <a:path h="487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5486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Cols: Cyst · Normal · Stone · Tumor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0" y="9886950"/>
            <a:ext cx="18288000" cy="390906"/>
            <a:chOff x="0" y="0"/>
            <a:chExt cx="24384000" cy="52120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384000" cy="521208"/>
            </a:xfrm>
            <a:custGeom>
              <a:avLst/>
              <a:gdLst/>
              <a:ahLst/>
              <a:cxnLst/>
              <a:rect r="r" b="b" t="t" l="l"/>
              <a:pathLst>
                <a:path h="52120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21208"/>
                  </a:lnTo>
                  <a:lnTo>
                    <a:pt x="0" y="521208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5544800" cy="1371600"/>
            <a:chOff x="0" y="0"/>
            <a:chExt cx="2072640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072640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PERFORMANCE RESULTS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910560" y="91440"/>
            <a:ext cx="1645920" cy="1060704"/>
            <a:chOff x="0" y="0"/>
            <a:chExt cx="2194560" cy="141427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19456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194560">
                  <a:moveTo>
                    <a:pt x="127000" y="0"/>
                  </a:moveTo>
                  <a:lnTo>
                    <a:pt x="2067560" y="0"/>
                  </a:lnTo>
                  <a:cubicBezTo>
                    <a:pt x="2137700" y="0"/>
                    <a:pt x="2194560" y="56860"/>
                    <a:pt x="2194560" y="127000"/>
                  </a:cubicBezTo>
                  <a:lnTo>
                    <a:pt x="2194560" y="1287272"/>
                  </a:lnTo>
                  <a:cubicBezTo>
                    <a:pt x="2194560" y="1320955"/>
                    <a:pt x="2181180" y="1353257"/>
                    <a:pt x="2157363" y="1377075"/>
                  </a:cubicBezTo>
                  <a:cubicBezTo>
                    <a:pt x="2133546" y="1400892"/>
                    <a:pt x="2101242" y="1414272"/>
                    <a:pt x="2067560" y="1414272"/>
                  </a:cubicBezTo>
                  <a:lnTo>
                    <a:pt x="127000" y="1414272"/>
                  </a:lnTo>
                  <a:cubicBezTo>
                    <a:pt x="93318" y="1414272"/>
                    <a:pt x="61015" y="1400892"/>
                    <a:pt x="37197" y="1377075"/>
                  </a:cubicBezTo>
                  <a:cubicBezTo>
                    <a:pt x="13380" y="1353257"/>
                    <a:pt x="0" y="1320955"/>
                    <a:pt x="0" y="1287272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42" r="0" b="-143"/>
              </a:stretch>
            </a:blipFill>
          </p:spPr>
        </p:sp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344619" y="893602"/>
            <a:ext cx="11755428" cy="6688433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007377" y="1248292"/>
            <a:ext cx="7499153" cy="5979054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 rot="0">
            <a:off x="406400" y="7104038"/>
            <a:ext cx="17556480" cy="548640"/>
            <a:chOff x="0" y="0"/>
            <a:chExt cx="2340864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408639" cy="731520"/>
            </a:xfrm>
            <a:custGeom>
              <a:avLst/>
              <a:gdLst/>
              <a:ahLst/>
              <a:cxnLst/>
              <a:rect r="r" b="b" t="t" l="l"/>
              <a:pathLst>
                <a:path h="731520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3408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ViT Class-wise Performance (Best Model)</a:t>
              </a:r>
            </a:p>
          </p:txBody>
        </p:sp>
      </p:grp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406400" y="7829902"/>
          <a:ext cx="17475200" cy="2159000"/>
        </p:xfrm>
        <a:graphic>
          <a:graphicData uri="http://schemas.openxmlformats.org/drawingml/2006/table">
            <a:tbl>
              <a:tblPr/>
              <a:tblGrid>
                <a:gridCol w="4368800"/>
                <a:gridCol w="4368800"/>
                <a:gridCol w="4368800"/>
                <a:gridCol w="4368800"/>
              </a:tblGrid>
              <a:tr h="431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Class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Precision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Recall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F1 Score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31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Cyst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1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Normal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1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Stone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1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Tumor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5544800" cy="1371600"/>
            <a:chOff x="0" y="0"/>
            <a:chExt cx="2072640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072640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TRAINING &amp; VALIDATION CURVES - ALL MODELS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910560" y="91440"/>
            <a:ext cx="1645920" cy="1060704"/>
            <a:chOff x="0" y="0"/>
            <a:chExt cx="2194560" cy="141427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19456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194560">
                  <a:moveTo>
                    <a:pt x="127000" y="0"/>
                  </a:moveTo>
                  <a:lnTo>
                    <a:pt x="2067560" y="0"/>
                  </a:lnTo>
                  <a:cubicBezTo>
                    <a:pt x="2137700" y="0"/>
                    <a:pt x="2194560" y="56860"/>
                    <a:pt x="2194560" y="127000"/>
                  </a:cubicBezTo>
                  <a:lnTo>
                    <a:pt x="2194560" y="1287272"/>
                  </a:lnTo>
                  <a:cubicBezTo>
                    <a:pt x="2194560" y="1320955"/>
                    <a:pt x="2181180" y="1353257"/>
                    <a:pt x="2157363" y="1377075"/>
                  </a:cubicBezTo>
                  <a:cubicBezTo>
                    <a:pt x="2133546" y="1400892"/>
                    <a:pt x="2101242" y="1414272"/>
                    <a:pt x="2067560" y="1414272"/>
                  </a:cubicBezTo>
                  <a:lnTo>
                    <a:pt x="127000" y="1414272"/>
                  </a:lnTo>
                  <a:cubicBezTo>
                    <a:pt x="93318" y="1414272"/>
                    <a:pt x="61015" y="1400892"/>
                    <a:pt x="37197" y="1377075"/>
                  </a:cubicBezTo>
                  <a:cubicBezTo>
                    <a:pt x="13380" y="1353257"/>
                    <a:pt x="0" y="1320955"/>
                    <a:pt x="0" y="1287272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42" r="0" b="-14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65760" y="1554480"/>
            <a:ext cx="17556480" cy="7498080"/>
            <a:chOff x="0" y="0"/>
            <a:chExt cx="23408640" cy="999744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23408639" cy="9997440"/>
            </a:xfrm>
            <a:custGeom>
              <a:avLst/>
              <a:gdLst/>
              <a:ahLst/>
              <a:cxnLst/>
              <a:rect r="r" b="b" t="t" l="l"/>
              <a:pathLst>
                <a:path h="9997440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9997440"/>
                  </a:lnTo>
                  <a:lnTo>
                    <a:pt x="0" y="9997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41704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67972" y="9788519"/>
            <a:ext cx="17569177" cy="378457"/>
            <a:chOff x="0" y="0"/>
            <a:chExt cx="23425569" cy="5046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8509" y="8509"/>
              <a:ext cx="23408640" cy="487680"/>
            </a:xfrm>
            <a:custGeom>
              <a:avLst/>
              <a:gdLst/>
              <a:ahLst/>
              <a:cxnLst/>
              <a:rect r="r" b="b" t="t" l="l"/>
              <a:pathLst>
                <a:path h="487680" w="23408640">
                  <a:moveTo>
                    <a:pt x="0" y="0"/>
                  </a:moveTo>
                  <a:lnTo>
                    <a:pt x="23408640" y="0"/>
                  </a:lnTo>
                  <a:lnTo>
                    <a:pt x="2340864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ECFDF5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425657" cy="504698"/>
            </a:xfrm>
            <a:custGeom>
              <a:avLst/>
              <a:gdLst/>
              <a:ahLst/>
              <a:cxnLst/>
              <a:rect r="r" b="b" t="t" l="l"/>
              <a:pathLst>
                <a:path h="504698" w="23425657">
                  <a:moveTo>
                    <a:pt x="8509" y="0"/>
                  </a:moveTo>
                  <a:lnTo>
                    <a:pt x="23417149" y="0"/>
                  </a:lnTo>
                  <a:cubicBezTo>
                    <a:pt x="23421848" y="0"/>
                    <a:pt x="23425657" y="3810"/>
                    <a:pt x="23425657" y="8509"/>
                  </a:cubicBezTo>
                  <a:lnTo>
                    <a:pt x="23425657" y="496189"/>
                  </a:lnTo>
                  <a:cubicBezTo>
                    <a:pt x="23425657" y="500888"/>
                    <a:pt x="23421848" y="504698"/>
                    <a:pt x="23417149" y="504698"/>
                  </a:cubicBezTo>
                  <a:lnTo>
                    <a:pt x="8509" y="504698"/>
                  </a:lnTo>
                  <a:cubicBezTo>
                    <a:pt x="3810" y="504698"/>
                    <a:pt x="0" y="500888"/>
                    <a:pt x="0" y="4961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96189"/>
                  </a:lnTo>
                  <a:lnTo>
                    <a:pt x="8509" y="496189"/>
                  </a:lnTo>
                  <a:lnTo>
                    <a:pt x="8509" y="487680"/>
                  </a:lnTo>
                  <a:lnTo>
                    <a:pt x="23417149" y="487680"/>
                  </a:lnTo>
                  <a:lnTo>
                    <a:pt x="23417149" y="496189"/>
                  </a:lnTo>
                  <a:lnTo>
                    <a:pt x="23408639" y="496189"/>
                  </a:lnTo>
                  <a:lnTo>
                    <a:pt x="23408639" y="8509"/>
                  </a:lnTo>
                  <a:lnTo>
                    <a:pt x="23417149" y="8509"/>
                  </a:lnTo>
                  <a:lnTo>
                    <a:pt x="23417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8640" y="9788519"/>
            <a:ext cx="17007840" cy="372104"/>
            <a:chOff x="0" y="0"/>
            <a:chExt cx="22677120" cy="4961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677120" cy="496138"/>
            </a:xfrm>
            <a:custGeom>
              <a:avLst/>
              <a:gdLst/>
              <a:ahLst/>
              <a:cxnLst/>
              <a:rect r="r" b="b" t="t" l="l"/>
              <a:pathLst>
                <a:path h="49613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496138"/>
                  </a:lnTo>
                  <a:lnTo>
                    <a:pt x="0" y="496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1460" r="0" b="-83975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2677120" cy="5247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ViT converges fastest with minimal overfitting. EANet shows volatile early epochs but stabilizes. ResNet50 shows slower convergence.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5544800" cy="1371600"/>
            <a:chOff x="0" y="0"/>
            <a:chExt cx="2072640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072640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CONFUSION MATRIX ANALYSIS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910560" y="91440"/>
            <a:ext cx="1645920" cy="1060704"/>
            <a:chOff x="0" y="0"/>
            <a:chExt cx="2194560" cy="141427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19456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194560">
                  <a:moveTo>
                    <a:pt x="127000" y="0"/>
                  </a:moveTo>
                  <a:lnTo>
                    <a:pt x="2067560" y="0"/>
                  </a:lnTo>
                  <a:cubicBezTo>
                    <a:pt x="2137700" y="0"/>
                    <a:pt x="2194560" y="56860"/>
                    <a:pt x="2194560" y="127000"/>
                  </a:cubicBezTo>
                  <a:lnTo>
                    <a:pt x="2194560" y="1287272"/>
                  </a:lnTo>
                  <a:cubicBezTo>
                    <a:pt x="2194560" y="1320955"/>
                    <a:pt x="2181180" y="1353257"/>
                    <a:pt x="2157363" y="1377075"/>
                  </a:cubicBezTo>
                  <a:cubicBezTo>
                    <a:pt x="2133546" y="1400892"/>
                    <a:pt x="2101242" y="1414272"/>
                    <a:pt x="2067560" y="1414272"/>
                  </a:cubicBezTo>
                  <a:lnTo>
                    <a:pt x="127000" y="1414272"/>
                  </a:lnTo>
                  <a:cubicBezTo>
                    <a:pt x="93318" y="1414272"/>
                    <a:pt x="61015" y="1400892"/>
                    <a:pt x="37197" y="1377075"/>
                  </a:cubicBezTo>
                  <a:cubicBezTo>
                    <a:pt x="13380" y="1353257"/>
                    <a:pt x="0" y="1320955"/>
                    <a:pt x="0" y="1287272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42" r="0" b="-14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65760" y="1554480"/>
            <a:ext cx="8229600" cy="512064"/>
            <a:chOff x="0" y="0"/>
            <a:chExt cx="10972800" cy="6827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72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65760" y="1554480"/>
            <a:ext cx="8229600" cy="512064"/>
            <a:chOff x="0" y="0"/>
            <a:chExt cx="10972800" cy="6827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972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ResNet50  Lowest Performer (94.02%)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65760" y="2103120"/>
            <a:ext cx="8229600" cy="6766560"/>
            <a:chOff x="0" y="0"/>
            <a:chExt cx="10972800" cy="902208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0972800" cy="9022080"/>
            </a:xfrm>
            <a:custGeom>
              <a:avLst/>
              <a:gdLst/>
              <a:ahLst/>
              <a:cxnLst/>
              <a:rect r="r" b="b" t="t" l="l"/>
              <a:pathLst>
                <a:path h="9022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022080"/>
                  </a:lnTo>
                  <a:lnTo>
                    <a:pt x="0" y="9022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9629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948423" y="1541783"/>
            <a:ext cx="8986523" cy="7706363"/>
            <a:chOff x="0" y="0"/>
            <a:chExt cx="11982031" cy="1027515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6891" y="16891"/>
              <a:ext cx="11948160" cy="10241281"/>
            </a:xfrm>
            <a:custGeom>
              <a:avLst/>
              <a:gdLst/>
              <a:ahLst/>
              <a:cxnLst/>
              <a:rect r="r" b="b" t="t" l="l"/>
              <a:pathLst>
                <a:path h="10241281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10241281"/>
                  </a:lnTo>
                  <a:lnTo>
                    <a:pt x="0" y="10241281"/>
                  </a:lnTo>
                  <a:close/>
                </a:path>
              </a:pathLst>
            </a:custGeom>
            <a:solidFill>
              <a:srgbClr val="64748B">
                <a:alpha val="12941"/>
              </a:srgbClr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981942" cy="10275062"/>
            </a:xfrm>
            <a:custGeom>
              <a:avLst/>
              <a:gdLst/>
              <a:ahLst/>
              <a:cxnLst/>
              <a:rect r="r" b="b" t="t" l="l"/>
              <a:pathLst>
                <a:path h="10275062" w="11981942">
                  <a:moveTo>
                    <a:pt x="16891" y="0"/>
                  </a:moveTo>
                  <a:lnTo>
                    <a:pt x="11965051" y="0"/>
                  </a:lnTo>
                  <a:cubicBezTo>
                    <a:pt x="11974449" y="0"/>
                    <a:pt x="11981942" y="7620"/>
                    <a:pt x="11981942" y="16891"/>
                  </a:cubicBezTo>
                  <a:lnTo>
                    <a:pt x="11981942" y="10258172"/>
                  </a:lnTo>
                  <a:cubicBezTo>
                    <a:pt x="11981942" y="10267569"/>
                    <a:pt x="11974322" y="10275062"/>
                    <a:pt x="11965051" y="10275062"/>
                  </a:cubicBezTo>
                  <a:lnTo>
                    <a:pt x="16891" y="10275062"/>
                  </a:lnTo>
                  <a:cubicBezTo>
                    <a:pt x="7493" y="10275062"/>
                    <a:pt x="0" y="10267442"/>
                    <a:pt x="0" y="102581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58172"/>
                  </a:lnTo>
                  <a:lnTo>
                    <a:pt x="16891" y="10258172"/>
                  </a:lnTo>
                  <a:lnTo>
                    <a:pt x="16891" y="10241280"/>
                  </a:lnTo>
                  <a:lnTo>
                    <a:pt x="11965051" y="10241280"/>
                  </a:lnTo>
                  <a:lnTo>
                    <a:pt x="11965051" y="10258172"/>
                  </a:lnTo>
                  <a:lnTo>
                    <a:pt x="11948160" y="10258172"/>
                  </a:lnTo>
                  <a:lnTo>
                    <a:pt x="11948160" y="16891"/>
                  </a:lnTo>
                  <a:lnTo>
                    <a:pt x="11965051" y="16891"/>
                  </a:lnTo>
                  <a:lnTo>
                    <a:pt x="11965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>
                <a:alpha val="12941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961120" y="1554480"/>
            <a:ext cx="8961120" cy="109728"/>
            <a:chOff x="0" y="0"/>
            <a:chExt cx="11948160" cy="14630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948160" cy="146304"/>
            </a:xfrm>
            <a:custGeom>
              <a:avLst/>
              <a:gdLst/>
              <a:ahLst/>
              <a:cxnLst/>
              <a:rect r="r" b="b" t="t" l="l"/>
              <a:pathLst>
                <a:path h="146304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235440" y="1737360"/>
            <a:ext cx="8503920" cy="548640"/>
            <a:chOff x="0" y="0"/>
            <a:chExt cx="1133856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338560" cy="731520"/>
            </a:xfrm>
            <a:custGeom>
              <a:avLst/>
              <a:gdLst/>
              <a:ahLst/>
              <a:cxnLst/>
              <a:rect r="r" b="b" t="t" l="l"/>
              <a:pathLst>
                <a:path h="73152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1133856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Misclassification Analysis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222743" y="2456183"/>
            <a:ext cx="8437883" cy="1342139"/>
            <a:chOff x="0" y="0"/>
            <a:chExt cx="11250511" cy="178951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112166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250422" cy="1789430"/>
            </a:xfrm>
            <a:custGeom>
              <a:avLst/>
              <a:gdLst/>
              <a:ahLst/>
              <a:cxnLst/>
              <a:rect r="r" b="b" t="t" l="l"/>
              <a:pathLst>
                <a:path h="1789430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772539"/>
                  </a:lnTo>
                  <a:cubicBezTo>
                    <a:pt x="11250422" y="1781937"/>
                    <a:pt x="11242802" y="1789430"/>
                    <a:pt x="11233531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11233531" y="1755648"/>
                  </a:lnTo>
                  <a:lnTo>
                    <a:pt x="11233531" y="1772539"/>
                  </a:lnTo>
                  <a:lnTo>
                    <a:pt x="11216640" y="1772539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235440" y="2468880"/>
            <a:ext cx="128016" cy="1316736"/>
            <a:chOff x="0" y="0"/>
            <a:chExt cx="170688" cy="17556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70688" cy="1755648"/>
            </a:xfrm>
            <a:custGeom>
              <a:avLst/>
              <a:gdLst/>
              <a:ahLst/>
              <a:cxnLst/>
              <a:rect r="r" b="b" t="t" l="l"/>
              <a:pathLst>
                <a:path h="175564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473184" y="2523744"/>
            <a:ext cx="7863840" cy="475488"/>
            <a:chOff x="0" y="0"/>
            <a:chExt cx="10485120" cy="63398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485120" cy="633984"/>
            </a:xfrm>
            <a:custGeom>
              <a:avLst/>
              <a:gdLst/>
              <a:ahLst/>
              <a:cxnLst/>
              <a:rect r="r" b="b" t="t" l="l"/>
              <a:pathLst>
                <a:path h="633984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2252" r="0" b="-27225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048512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ResNet50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473184" y="2962656"/>
            <a:ext cx="7863840" cy="768096"/>
            <a:chOff x="0" y="0"/>
            <a:chExt cx="10485120" cy="102412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4851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489" r="0" b="-14948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48512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66 Normal → Stone misclassifications; 45 Tumor → Cyst; weakest stone recall (77%). Global features poorly captured.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222743" y="3955799"/>
            <a:ext cx="8437883" cy="1342139"/>
            <a:chOff x="0" y="0"/>
            <a:chExt cx="11250511" cy="178951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12166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250422" cy="1789430"/>
            </a:xfrm>
            <a:custGeom>
              <a:avLst/>
              <a:gdLst/>
              <a:ahLst/>
              <a:cxnLst/>
              <a:rect r="r" b="b" t="t" l="l"/>
              <a:pathLst>
                <a:path h="1789430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772539"/>
                  </a:lnTo>
                  <a:cubicBezTo>
                    <a:pt x="11250422" y="1781937"/>
                    <a:pt x="11242802" y="1789430"/>
                    <a:pt x="11233531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11233531" y="1755648"/>
                  </a:lnTo>
                  <a:lnTo>
                    <a:pt x="11233531" y="1772539"/>
                  </a:lnTo>
                  <a:lnTo>
                    <a:pt x="11216640" y="1772539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235440" y="3968496"/>
            <a:ext cx="128016" cy="1316736"/>
            <a:chOff x="0" y="0"/>
            <a:chExt cx="170688" cy="175564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70688" cy="1755648"/>
            </a:xfrm>
            <a:custGeom>
              <a:avLst/>
              <a:gdLst/>
              <a:ahLst/>
              <a:cxnLst/>
              <a:rect r="r" b="b" t="t" l="l"/>
              <a:pathLst>
                <a:path h="175564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473184" y="4023360"/>
            <a:ext cx="7863840" cy="475488"/>
            <a:chOff x="0" y="0"/>
            <a:chExt cx="10485120" cy="63398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485120" cy="633984"/>
            </a:xfrm>
            <a:custGeom>
              <a:avLst/>
              <a:gdLst/>
              <a:ahLst/>
              <a:cxnLst/>
              <a:rect r="r" b="b" t="t" l="l"/>
              <a:pathLst>
                <a:path h="633984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2252" r="0" b="-27225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1048512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Swin Transformer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473184" y="4462272"/>
            <a:ext cx="7863840" cy="768096"/>
            <a:chOff x="0" y="0"/>
            <a:chExt cx="10485120" cy="102412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4851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489" r="0" b="-14948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048512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22 Stone → Cyst misclassified. Good on Cyst/Normal/Tumor but stone detection slightly weaker.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222743" y="5455415"/>
            <a:ext cx="8437883" cy="1342139"/>
            <a:chOff x="0" y="0"/>
            <a:chExt cx="11250511" cy="178951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16891"/>
              <a:ext cx="112166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250422" cy="1789430"/>
            </a:xfrm>
            <a:custGeom>
              <a:avLst/>
              <a:gdLst/>
              <a:ahLst/>
              <a:cxnLst/>
              <a:rect r="r" b="b" t="t" l="l"/>
              <a:pathLst>
                <a:path h="1789430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772539"/>
                  </a:lnTo>
                  <a:cubicBezTo>
                    <a:pt x="11250422" y="1781937"/>
                    <a:pt x="11242802" y="1789430"/>
                    <a:pt x="11233531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11233531" y="1755648"/>
                  </a:lnTo>
                  <a:lnTo>
                    <a:pt x="11233531" y="1772539"/>
                  </a:lnTo>
                  <a:lnTo>
                    <a:pt x="11216640" y="1772539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235440" y="5468112"/>
            <a:ext cx="128016" cy="1316736"/>
            <a:chOff x="0" y="0"/>
            <a:chExt cx="170688" cy="175564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70688" cy="1755648"/>
            </a:xfrm>
            <a:custGeom>
              <a:avLst/>
              <a:gdLst/>
              <a:ahLst/>
              <a:cxnLst/>
              <a:rect r="r" b="b" t="t" l="l"/>
              <a:pathLst>
                <a:path h="175564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473184" y="5522976"/>
            <a:ext cx="7863840" cy="475488"/>
            <a:chOff x="0" y="0"/>
            <a:chExt cx="10485120" cy="63398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485120" cy="633984"/>
            </a:xfrm>
            <a:custGeom>
              <a:avLst/>
              <a:gdLst/>
              <a:ahLst/>
              <a:cxnLst/>
              <a:rect r="r" b="b" t="t" l="l"/>
              <a:pathLst>
                <a:path h="633984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2252" r="0" b="-27225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1048512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VGG16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473184" y="5961888"/>
            <a:ext cx="7863840" cy="768096"/>
            <a:chOff x="0" y="0"/>
            <a:chExt cx="10485120" cy="102412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4851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489" r="0" b="-14948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048512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Near-perfect confusion matrix. Minor stone misclassifications only. Precision 0.98 across all classes.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222743" y="6955031"/>
            <a:ext cx="8437883" cy="1342139"/>
            <a:chOff x="0" y="0"/>
            <a:chExt cx="11250511" cy="178951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6891" y="16891"/>
              <a:ext cx="112166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1250422" cy="1789430"/>
            </a:xfrm>
            <a:custGeom>
              <a:avLst/>
              <a:gdLst/>
              <a:ahLst/>
              <a:cxnLst/>
              <a:rect r="r" b="b" t="t" l="l"/>
              <a:pathLst>
                <a:path h="1789430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772539"/>
                  </a:lnTo>
                  <a:cubicBezTo>
                    <a:pt x="11250422" y="1781937"/>
                    <a:pt x="11242802" y="1789430"/>
                    <a:pt x="11233531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11233531" y="1755648"/>
                  </a:lnTo>
                  <a:lnTo>
                    <a:pt x="11233531" y="1772539"/>
                  </a:lnTo>
                  <a:lnTo>
                    <a:pt x="11216640" y="1772539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235440" y="6967728"/>
            <a:ext cx="128016" cy="1316736"/>
            <a:chOff x="0" y="0"/>
            <a:chExt cx="170688" cy="175564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70688" cy="1755648"/>
            </a:xfrm>
            <a:custGeom>
              <a:avLst/>
              <a:gdLst/>
              <a:ahLst/>
              <a:cxnLst/>
              <a:rect r="r" b="b" t="t" l="l"/>
              <a:pathLst>
                <a:path h="175564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473184" y="7022592"/>
            <a:ext cx="7863840" cy="475488"/>
            <a:chOff x="0" y="0"/>
            <a:chExt cx="10485120" cy="63398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485120" cy="633984"/>
            </a:xfrm>
            <a:custGeom>
              <a:avLst/>
              <a:gdLst/>
              <a:ahLst/>
              <a:cxnLst/>
              <a:rect r="r" b="b" t="t" l="l"/>
              <a:pathLst>
                <a:path h="633984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2252" r="0" b="-27225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1048512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ViT (Best)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473184" y="7461504"/>
            <a:ext cx="7863840" cy="768096"/>
            <a:chOff x="0" y="0"/>
            <a:chExt cx="10485120" cy="102412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4851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489" r="0" b="-149489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048512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Near-perfect across all 4 classes. Cyst &amp; Tumor at 100% precision/recall. Only minor stone→cyst confusion.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0" y="9692640"/>
            <a:ext cx="18288000" cy="585216"/>
            <a:chOff x="0" y="0"/>
            <a:chExt cx="24384000" cy="78028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4384000" cy="780288"/>
            </a:xfrm>
            <a:custGeom>
              <a:avLst/>
              <a:gdLst/>
              <a:ahLst/>
              <a:cxnLst/>
              <a:rect r="r" b="b" t="t" l="l"/>
              <a:pathLst>
                <a:path h="7802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5544800" cy="1371600"/>
            <a:chOff x="0" y="0"/>
            <a:chExt cx="2072640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072640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GRAD-CAM EXPLAINABILITY ANALYSIS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910560" y="91440"/>
            <a:ext cx="1645920" cy="1060704"/>
            <a:chOff x="0" y="0"/>
            <a:chExt cx="2194560" cy="141427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19456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194560">
                  <a:moveTo>
                    <a:pt x="127000" y="0"/>
                  </a:moveTo>
                  <a:lnTo>
                    <a:pt x="2067560" y="0"/>
                  </a:lnTo>
                  <a:cubicBezTo>
                    <a:pt x="2137700" y="0"/>
                    <a:pt x="2194560" y="56860"/>
                    <a:pt x="2194560" y="127000"/>
                  </a:cubicBezTo>
                  <a:lnTo>
                    <a:pt x="2194560" y="1287272"/>
                  </a:lnTo>
                  <a:cubicBezTo>
                    <a:pt x="2194560" y="1320955"/>
                    <a:pt x="2181180" y="1353257"/>
                    <a:pt x="2157363" y="1377075"/>
                  </a:cubicBezTo>
                  <a:cubicBezTo>
                    <a:pt x="2133546" y="1400892"/>
                    <a:pt x="2101242" y="1414272"/>
                    <a:pt x="2067560" y="1414272"/>
                  </a:cubicBezTo>
                  <a:lnTo>
                    <a:pt x="127000" y="1414272"/>
                  </a:lnTo>
                  <a:cubicBezTo>
                    <a:pt x="93318" y="1414272"/>
                    <a:pt x="61015" y="1400892"/>
                    <a:pt x="37197" y="1377075"/>
                  </a:cubicBezTo>
                  <a:cubicBezTo>
                    <a:pt x="13380" y="1353257"/>
                    <a:pt x="0" y="1320955"/>
                    <a:pt x="0" y="1287272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42" r="0" b="-14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53063" y="1596647"/>
            <a:ext cx="7889243" cy="7797803"/>
            <a:chOff x="0" y="0"/>
            <a:chExt cx="10518991" cy="103970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6891" y="16891"/>
              <a:ext cx="10485120" cy="10363200"/>
            </a:xfrm>
            <a:custGeom>
              <a:avLst/>
              <a:gdLst/>
              <a:ahLst/>
              <a:cxnLst/>
              <a:rect r="r" b="b" t="t" l="l"/>
              <a:pathLst>
                <a:path h="103632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363200"/>
                  </a:lnTo>
                  <a:lnTo>
                    <a:pt x="0" y="1036320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518901" cy="10396982"/>
            </a:xfrm>
            <a:custGeom>
              <a:avLst/>
              <a:gdLst/>
              <a:ahLst/>
              <a:cxnLst/>
              <a:rect r="r" b="b" t="t" l="l"/>
              <a:pathLst>
                <a:path h="10396982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0380091"/>
                  </a:lnTo>
                  <a:cubicBezTo>
                    <a:pt x="10518901" y="10389489"/>
                    <a:pt x="10511282" y="10396982"/>
                    <a:pt x="10502011" y="10396982"/>
                  </a:cubicBezTo>
                  <a:lnTo>
                    <a:pt x="16891" y="10396982"/>
                  </a:lnTo>
                  <a:cubicBezTo>
                    <a:pt x="7493" y="10396982"/>
                    <a:pt x="0" y="10389362"/>
                    <a:pt x="0" y="10380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380091"/>
                  </a:lnTo>
                  <a:lnTo>
                    <a:pt x="16891" y="10380091"/>
                  </a:lnTo>
                  <a:lnTo>
                    <a:pt x="16891" y="10363200"/>
                  </a:lnTo>
                  <a:lnTo>
                    <a:pt x="10502011" y="10363200"/>
                  </a:lnTo>
                  <a:lnTo>
                    <a:pt x="10502011" y="10380091"/>
                  </a:lnTo>
                  <a:lnTo>
                    <a:pt x="10485120" y="1038009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65760" y="1609344"/>
            <a:ext cx="7863840" cy="109728"/>
            <a:chOff x="0" y="0"/>
            <a:chExt cx="10485120" cy="14630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85120" cy="146304"/>
            </a:xfrm>
            <a:custGeom>
              <a:avLst/>
              <a:gdLst/>
              <a:ahLst/>
              <a:cxnLst/>
              <a:rect r="r" b="b" t="t" l="l"/>
              <a:pathLst>
                <a:path h="146304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40080" y="1792224"/>
            <a:ext cx="7315200" cy="548640"/>
            <a:chOff x="0" y="0"/>
            <a:chExt cx="97536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97536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Grad-CAM Works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40080" y="2414016"/>
            <a:ext cx="7315200" cy="1188720"/>
            <a:chOff x="0" y="0"/>
            <a:chExt cx="9753600" cy="1584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53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907" r="0" b="-6990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75360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Gradient-weighted Class Activation Mapping (Grad-CAM) highlights regions in CT images that most influence the model's predictions.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27383" y="3644903"/>
            <a:ext cx="7340603" cy="1031243"/>
            <a:chOff x="0" y="0"/>
            <a:chExt cx="9787471" cy="13749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9753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7873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9787382">
                  <a:moveTo>
                    <a:pt x="16891" y="0"/>
                  </a:moveTo>
                  <a:lnTo>
                    <a:pt x="9770491" y="0"/>
                  </a:lnTo>
                  <a:cubicBezTo>
                    <a:pt x="9779889" y="0"/>
                    <a:pt x="9787382" y="7620"/>
                    <a:pt x="9787382" y="16891"/>
                  </a:cubicBezTo>
                  <a:lnTo>
                    <a:pt x="9787382" y="1358011"/>
                  </a:lnTo>
                  <a:cubicBezTo>
                    <a:pt x="9787382" y="1367409"/>
                    <a:pt x="9779762" y="1374902"/>
                    <a:pt x="977049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9770491" y="1341120"/>
                  </a:lnTo>
                  <a:lnTo>
                    <a:pt x="9770491" y="1358011"/>
                  </a:lnTo>
                  <a:lnTo>
                    <a:pt x="9753600" y="1358011"/>
                  </a:lnTo>
                  <a:lnTo>
                    <a:pt x="9753600" y="16891"/>
                  </a:lnTo>
                  <a:lnTo>
                    <a:pt x="9770491" y="16891"/>
                  </a:lnTo>
                  <a:lnTo>
                    <a:pt x="9770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40080" y="3749040"/>
            <a:ext cx="7315200" cy="822960"/>
            <a:chOff x="0" y="0"/>
            <a:chExt cx="9753600" cy="1097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75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97536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i="true">
                  <a:solidFill>
                    <a:srgbClr val="0D1B2A"/>
                  </a:solidFill>
                  <a:latin typeface="Courier New Italics"/>
                  <a:ea typeface="Courier New Italics"/>
                  <a:cs typeface="Courier New Italics"/>
                  <a:sym typeface="Courier New Italics"/>
                </a:rPr>
                <a:t>w_k^c = (1/Z) Σ_i Σ_j (∂y^c / ∂A_ij^k)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27383" y="4687319"/>
            <a:ext cx="7340603" cy="1031243"/>
            <a:chOff x="0" y="0"/>
            <a:chExt cx="9787471" cy="137499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9753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7873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9787382">
                  <a:moveTo>
                    <a:pt x="16891" y="0"/>
                  </a:moveTo>
                  <a:lnTo>
                    <a:pt x="9770491" y="0"/>
                  </a:lnTo>
                  <a:cubicBezTo>
                    <a:pt x="9779889" y="0"/>
                    <a:pt x="9787382" y="7620"/>
                    <a:pt x="9787382" y="16891"/>
                  </a:cubicBezTo>
                  <a:lnTo>
                    <a:pt x="9787382" y="1358011"/>
                  </a:lnTo>
                  <a:cubicBezTo>
                    <a:pt x="9787382" y="1367409"/>
                    <a:pt x="9779762" y="1374902"/>
                    <a:pt x="977049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9770491" y="1341120"/>
                  </a:lnTo>
                  <a:lnTo>
                    <a:pt x="9770491" y="1358011"/>
                  </a:lnTo>
                  <a:lnTo>
                    <a:pt x="9753600" y="1358011"/>
                  </a:lnTo>
                  <a:lnTo>
                    <a:pt x="9753600" y="16891"/>
                  </a:lnTo>
                  <a:lnTo>
                    <a:pt x="9770491" y="16891"/>
                  </a:lnTo>
                  <a:lnTo>
                    <a:pt x="9770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40080" y="4791456"/>
            <a:ext cx="7315200" cy="822960"/>
            <a:chOff x="0" y="0"/>
            <a:chExt cx="9753600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75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97536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i="true">
                  <a:solidFill>
                    <a:srgbClr val="0D1B2A"/>
                  </a:solidFill>
                  <a:latin typeface="Courier New Italics"/>
                  <a:ea typeface="Courier New Italics"/>
                  <a:cs typeface="Courier New Italics"/>
                  <a:sym typeface="Courier New Italics"/>
                </a:rPr>
                <a:t>L_GradCAM = ReLU( Σ_k w_k^c · A^k )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27383" y="5802887"/>
            <a:ext cx="7340603" cy="939803"/>
            <a:chOff x="0" y="0"/>
            <a:chExt cx="9787471" cy="125307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9753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787382" cy="1252984"/>
            </a:xfrm>
            <a:custGeom>
              <a:avLst/>
              <a:gdLst/>
              <a:ahLst/>
              <a:cxnLst/>
              <a:rect r="r" b="b" t="t" l="l"/>
              <a:pathLst>
                <a:path h="1252984" w="9787382">
                  <a:moveTo>
                    <a:pt x="16891" y="0"/>
                  </a:moveTo>
                  <a:lnTo>
                    <a:pt x="9770491" y="0"/>
                  </a:lnTo>
                  <a:cubicBezTo>
                    <a:pt x="9779889" y="0"/>
                    <a:pt x="9787382" y="7620"/>
                    <a:pt x="9787382" y="16891"/>
                  </a:cubicBezTo>
                  <a:lnTo>
                    <a:pt x="9787382" y="1236091"/>
                  </a:lnTo>
                  <a:cubicBezTo>
                    <a:pt x="9787382" y="1245489"/>
                    <a:pt x="9779762" y="1252982"/>
                    <a:pt x="977049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9770491" y="1219200"/>
                  </a:lnTo>
                  <a:lnTo>
                    <a:pt x="9770491" y="1236091"/>
                  </a:lnTo>
                  <a:lnTo>
                    <a:pt x="9753600" y="1236091"/>
                  </a:lnTo>
                  <a:lnTo>
                    <a:pt x="9753600" y="16891"/>
                  </a:lnTo>
                  <a:lnTo>
                    <a:pt x="9770491" y="16891"/>
                  </a:lnTo>
                  <a:lnTo>
                    <a:pt x="9770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40080" y="5815584"/>
            <a:ext cx="128016" cy="914400"/>
            <a:chOff x="0" y="0"/>
            <a:chExt cx="170688" cy="1219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70688" cy="1219200"/>
            </a:xfrm>
            <a:custGeom>
              <a:avLst/>
              <a:gdLst/>
              <a:ahLst/>
              <a:cxnLst/>
              <a:rect r="r" b="b" t="t" l="l"/>
              <a:pathLst>
                <a:path h="12192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50976" y="5852160"/>
            <a:ext cx="6949440" cy="402336"/>
            <a:chOff x="0" y="0"/>
            <a:chExt cx="9265920" cy="53644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265920" cy="536448"/>
            </a:xfrm>
            <a:custGeom>
              <a:avLst/>
              <a:gdLst/>
              <a:ahLst/>
              <a:cxnLst/>
              <a:rect r="r" b="b" t="t" l="l"/>
              <a:pathLst>
                <a:path h="53644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6559" r="0" b="-28655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92659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VGG16 / ResNet50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50976" y="6217920"/>
            <a:ext cx="6949440" cy="402336"/>
            <a:chOff x="0" y="0"/>
            <a:chExt cx="9265920" cy="53644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265920" cy="536448"/>
            </a:xfrm>
            <a:custGeom>
              <a:avLst/>
              <a:gdLst/>
              <a:ahLst/>
              <a:cxnLst/>
              <a:rect r="r" b="b" t="t" l="l"/>
              <a:pathLst>
                <a:path h="53644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6559" r="0" b="-286559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92659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Extract from final conv layers → spatial feature maps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27383" y="6827015"/>
            <a:ext cx="7340603" cy="939803"/>
            <a:chOff x="0" y="0"/>
            <a:chExt cx="9787471" cy="125307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9753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787382" cy="1252984"/>
            </a:xfrm>
            <a:custGeom>
              <a:avLst/>
              <a:gdLst/>
              <a:ahLst/>
              <a:cxnLst/>
              <a:rect r="r" b="b" t="t" l="l"/>
              <a:pathLst>
                <a:path h="1252984" w="9787382">
                  <a:moveTo>
                    <a:pt x="16891" y="0"/>
                  </a:moveTo>
                  <a:lnTo>
                    <a:pt x="9770491" y="0"/>
                  </a:lnTo>
                  <a:cubicBezTo>
                    <a:pt x="9779889" y="0"/>
                    <a:pt x="9787382" y="7620"/>
                    <a:pt x="9787382" y="16891"/>
                  </a:cubicBezTo>
                  <a:lnTo>
                    <a:pt x="9787382" y="1236091"/>
                  </a:lnTo>
                  <a:cubicBezTo>
                    <a:pt x="9787382" y="1245489"/>
                    <a:pt x="9779762" y="1252982"/>
                    <a:pt x="977049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9770491" y="1219200"/>
                  </a:lnTo>
                  <a:lnTo>
                    <a:pt x="9770491" y="1236091"/>
                  </a:lnTo>
                  <a:lnTo>
                    <a:pt x="9753600" y="1236091"/>
                  </a:lnTo>
                  <a:lnTo>
                    <a:pt x="9753600" y="16891"/>
                  </a:lnTo>
                  <a:lnTo>
                    <a:pt x="9770491" y="16891"/>
                  </a:lnTo>
                  <a:lnTo>
                    <a:pt x="9770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640080" y="6839712"/>
            <a:ext cx="128016" cy="914400"/>
            <a:chOff x="0" y="0"/>
            <a:chExt cx="170688" cy="1219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70688" cy="1219200"/>
            </a:xfrm>
            <a:custGeom>
              <a:avLst/>
              <a:gdLst/>
              <a:ahLst/>
              <a:cxnLst/>
              <a:rect r="r" b="b" t="t" l="l"/>
              <a:pathLst>
                <a:path h="12192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50976" y="6876288"/>
            <a:ext cx="6949440" cy="402336"/>
            <a:chOff x="0" y="0"/>
            <a:chExt cx="9265920" cy="53644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265920" cy="536448"/>
            </a:xfrm>
            <a:custGeom>
              <a:avLst/>
              <a:gdLst/>
              <a:ahLst/>
              <a:cxnLst/>
              <a:rect r="r" b="b" t="t" l="l"/>
              <a:pathLst>
                <a:path h="53644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6559" r="0" b="-286559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92659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ViT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50976" y="7242048"/>
            <a:ext cx="6949440" cy="402336"/>
            <a:chOff x="0" y="0"/>
            <a:chExt cx="9265920" cy="53644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265920" cy="536448"/>
            </a:xfrm>
            <a:custGeom>
              <a:avLst/>
              <a:gdLst/>
              <a:ahLst/>
              <a:cxnLst/>
              <a:rect r="r" b="b" t="t" l="l"/>
              <a:pathLst>
                <a:path h="53644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6559" r="0" b="-286559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92659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Grad-CAM on token embeddings → 14×14 grid → upsample to 224×224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27383" y="7851143"/>
            <a:ext cx="7340603" cy="939803"/>
            <a:chOff x="0" y="0"/>
            <a:chExt cx="9787471" cy="125307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891" y="16891"/>
              <a:ext cx="9753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787382" cy="1252984"/>
            </a:xfrm>
            <a:custGeom>
              <a:avLst/>
              <a:gdLst/>
              <a:ahLst/>
              <a:cxnLst/>
              <a:rect r="r" b="b" t="t" l="l"/>
              <a:pathLst>
                <a:path h="1252984" w="9787382">
                  <a:moveTo>
                    <a:pt x="16891" y="0"/>
                  </a:moveTo>
                  <a:lnTo>
                    <a:pt x="9770491" y="0"/>
                  </a:lnTo>
                  <a:cubicBezTo>
                    <a:pt x="9779889" y="0"/>
                    <a:pt x="9787382" y="7620"/>
                    <a:pt x="9787382" y="16891"/>
                  </a:cubicBezTo>
                  <a:lnTo>
                    <a:pt x="9787382" y="1236091"/>
                  </a:lnTo>
                  <a:cubicBezTo>
                    <a:pt x="9787382" y="1245489"/>
                    <a:pt x="9779762" y="1252982"/>
                    <a:pt x="977049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9770491" y="1219200"/>
                  </a:lnTo>
                  <a:lnTo>
                    <a:pt x="9770491" y="1236091"/>
                  </a:lnTo>
                  <a:lnTo>
                    <a:pt x="9753600" y="1236091"/>
                  </a:lnTo>
                  <a:lnTo>
                    <a:pt x="9753600" y="16891"/>
                  </a:lnTo>
                  <a:lnTo>
                    <a:pt x="9770491" y="16891"/>
                  </a:lnTo>
                  <a:lnTo>
                    <a:pt x="9770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640080" y="7863840"/>
            <a:ext cx="128016" cy="914400"/>
            <a:chOff x="0" y="0"/>
            <a:chExt cx="170688" cy="12192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70688" cy="1219200"/>
            </a:xfrm>
            <a:custGeom>
              <a:avLst/>
              <a:gdLst/>
              <a:ahLst/>
              <a:cxnLst/>
              <a:rect r="r" b="b" t="t" l="l"/>
              <a:pathLst>
                <a:path h="12192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50976" y="7900416"/>
            <a:ext cx="6949440" cy="402336"/>
            <a:chOff x="0" y="0"/>
            <a:chExt cx="9265920" cy="53644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265920" cy="536448"/>
            </a:xfrm>
            <a:custGeom>
              <a:avLst/>
              <a:gdLst/>
              <a:ahLst/>
              <a:cxnLst/>
              <a:rect r="r" b="b" t="t" l="l"/>
              <a:pathLst>
                <a:path h="53644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6559" r="0" b="-286559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92659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DINO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50976" y="8266176"/>
            <a:ext cx="6949440" cy="402336"/>
            <a:chOff x="0" y="0"/>
            <a:chExt cx="9265920" cy="53644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265920" cy="536448"/>
            </a:xfrm>
            <a:custGeom>
              <a:avLst/>
              <a:gdLst/>
              <a:ahLst/>
              <a:cxnLst/>
              <a:rect r="r" b="b" t="t" l="l"/>
              <a:pathLst>
                <a:path h="53644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6559" r="0" b="-286559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92659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Self-supervised attention maps → semantically richer localization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582663" y="1596647"/>
            <a:ext cx="9352283" cy="7797803"/>
            <a:chOff x="0" y="0"/>
            <a:chExt cx="12469711" cy="1039707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12435840" cy="10363200"/>
            </a:xfrm>
            <a:custGeom>
              <a:avLst/>
              <a:gdLst/>
              <a:ahLst/>
              <a:cxnLst/>
              <a:rect r="r" b="b" t="t" l="l"/>
              <a:pathLst>
                <a:path h="1036320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10363200"/>
                  </a:lnTo>
                  <a:lnTo>
                    <a:pt x="0" y="1036320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2469622" cy="10396982"/>
            </a:xfrm>
            <a:custGeom>
              <a:avLst/>
              <a:gdLst/>
              <a:ahLst/>
              <a:cxnLst/>
              <a:rect r="r" b="b" t="t" l="l"/>
              <a:pathLst>
                <a:path h="10396982" w="12469622">
                  <a:moveTo>
                    <a:pt x="16891" y="0"/>
                  </a:moveTo>
                  <a:lnTo>
                    <a:pt x="12452731" y="0"/>
                  </a:lnTo>
                  <a:cubicBezTo>
                    <a:pt x="12462129" y="0"/>
                    <a:pt x="12469622" y="7620"/>
                    <a:pt x="12469622" y="16891"/>
                  </a:cubicBezTo>
                  <a:lnTo>
                    <a:pt x="12469622" y="10380091"/>
                  </a:lnTo>
                  <a:cubicBezTo>
                    <a:pt x="12469622" y="10389489"/>
                    <a:pt x="12462002" y="10396982"/>
                    <a:pt x="12452731" y="10396982"/>
                  </a:cubicBezTo>
                  <a:lnTo>
                    <a:pt x="16891" y="10396982"/>
                  </a:lnTo>
                  <a:cubicBezTo>
                    <a:pt x="7493" y="10396982"/>
                    <a:pt x="0" y="10389362"/>
                    <a:pt x="0" y="10380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380091"/>
                  </a:lnTo>
                  <a:lnTo>
                    <a:pt x="16891" y="10380091"/>
                  </a:lnTo>
                  <a:lnTo>
                    <a:pt x="16891" y="10363200"/>
                  </a:lnTo>
                  <a:lnTo>
                    <a:pt x="12452731" y="10363200"/>
                  </a:lnTo>
                  <a:lnTo>
                    <a:pt x="12452731" y="10380091"/>
                  </a:lnTo>
                  <a:lnTo>
                    <a:pt x="12435840" y="10380091"/>
                  </a:lnTo>
                  <a:lnTo>
                    <a:pt x="12435840" y="16891"/>
                  </a:lnTo>
                  <a:lnTo>
                    <a:pt x="12452731" y="16891"/>
                  </a:lnTo>
                  <a:lnTo>
                    <a:pt x="12452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8595360" y="1609344"/>
            <a:ext cx="9326880" cy="109728"/>
            <a:chOff x="0" y="0"/>
            <a:chExt cx="12435840" cy="14630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2435840" cy="146304"/>
            </a:xfrm>
            <a:custGeom>
              <a:avLst/>
              <a:gdLst/>
              <a:ahLst/>
              <a:cxnLst/>
              <a:rect r="r" b="b" t="t" l="l"/>
              <a:pathLst>
                <a:path h="146304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8869680" y="1792224"/>
            <a:ext cx="8778240" cy="548640"/>
            <a:chOff x="0" y="0"/>
            <a:chExt cx="11704320" cy="7315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1704320" cy="731520"/>
            </a:xfrm>
            <a:custGeom>
              <a:avLst/>
              <a:gdLst/>
              <a:ahLst/>
              <a:cxnLst/>
              <a:rect r="r" b="b" t="t" l="l"/>
              <a:pathLst>
                <a:path h="73152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117043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Interpretability Comparison</a:t>
              </a:r>
            </a:p>
          </p:txBody>
        </p:sp>
      </p:grpSp>
      <p:graphicFrame>
        <p:nvGraphicFramePr>
          <p:cNvPr name="Table 73" id="73"/>
          <p:cNvGraphicFramePr>
            <a:graphicFrameLocks noGrp="true"/>
          </p:cNvGraphicFramePr>
          <p:nvPr/>
        </p:nvGraphicFramePr>
        <p:xfrm>
          <a:off x="8869680" y="2468880"/>
          <a:ext cx="8737600" cy="3556000"/>
        </p:xfrm>
        <a:graphic>
          <a:graphicData uri="http://schemas.openxmlformats.org/drawingml/2006/table">
            <a:tbl>
              <a:tblPr/>
              <a:tblGrid>
                <a:gridCol w="2190666"/>
                <a:gridCol w="3273467"/>
                <a:gridCol w="3273467"/>
              </a:tblGrid>
              <a:tr h="5080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Model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Localization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Explainability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ViT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⭐⭐⭐⭐⭐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Token-level attention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DINO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⭐⭐⭐⭐⭐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Semantic self-supervised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VGG16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⭐⭐⭐⭐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High-level conv features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ResNet50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⭐⭐⭐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Dispersed regions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EANet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⭐⭐⭐⭐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External attention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Swin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⭐⭐⭐⭐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Window-based features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74" id="74"/>
          <p:cNvGrpSpPr/>
          <p:nvPr/>
        </p:nvGrpSpPr>
        <p:grpSpPr>
          <a:xfrm rot="0">
            <a:off x="8582663" y="6241799"/>
            <a:ext cx="9352283" cy="1598171"/>
            <a:chOff x="0" y="0"/>
            <a:chExt cx="12469711" cy="2130895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12435840" cy="2097024"/>
            </a:xfrm>
            <a:custGeom>
              <a:avLst/>
              <a:gdLst/>
              <a:ahLst/>
              <a:cxnLst/>
              <a:rect r="r" b="b" t="t" l="l"/>
              <a:pathLst>
                <a:path h="2097024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2097024"/>
                  </a:lnTo>
                  <a:lnTo>
                    <a:pt x="0" y="2097024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2469622" cy="2130806"/>
            </a:xfrm>
            <a:custGeom>
              <a:avLst/>
              <a:gdLst/>
              <a:ahLst/>
              <a:cxnLst/>
              <a:rect r="r" b="b" t="t" l="l"/>
              <a:pathLst>
                <a:path h="2130806" w="12469622">
                  <a:moveTo>
                    <a:pt x="16891" y="0"/>
                  </a:moveTo>
                  <a:lnTo>
                    <a:pt x="12452731" y="0"/>
                  </a:lnTo>
                  <a:cubicBezTo>
                    <a:pt x="12462129" y="0"/>
                    <a:pt x="12469622" y="7620"/>
                    <a:pt x="12469622" y="16891"/>
                  </a:cubicBezTo>
                  <a:lnTo>
                    <a:pt x="12469622" y="2113915"/>
                  </a:lnTo>
                  <a:cubicBezTo>
                    <a:pt x="12469622" y="2123313"/>
                    <a:pt x="12462002" y="2130806"/>
                    <a:pt x="12452731" y="2130806"/>
                  </a:cubicBezTo>
                  <a:lnTo>
                    <a:pt x="16891" y="2130806"/>
                  </a:lnTo>
                  <a:cubicBezTo>
                    <a:pt x="7493" y="2130806"/>
                    <a:pt x="0" y="2123186"/>
                    <a:pt x="0" y="21139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3915"/>
                  </a:lnTo>
                  <a:lnTo>
                    <a:pt x="16891" y="2113915"/>
                  </a:lnTo>
                  <a:lnTo>
                    <a:pt x="16891" y="2097024"/>
                  </a:lnTo>
                  <a:lnTo>
                    <a:pt x="12452731" y="2097024"/>
                  </a:lnTo>
                  <a:lnTo>
                    <a:pt x="12452731" y="2113915"/>
                  </a:lnTo>
                  <a:lnTo>
                    <a:pt x="12435840" y="2113915"/>
                  </a:lnTo>
                  <a:lnTo>
                    <a:pt x="12435840" y="16891"/>
                  </a:lnTo>
                  <a:lnTo>
                    <a:pt x="12452731" y="16891"/>
                  </a:lnTo>
                  <a:lnTo>
                    <a:pt x="12452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8869680" y="6364224"/>
            <a:ext cx="8778240" cy="1371600"/>
            <a:chOff x="0" y="0"/>
            <a:chExt cx="11704320" cy="18288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17043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4704" r="0" b="-74704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1170432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19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Key Finding: DINO and VGG16 provide the best localization of anatomical abnormalities. ViT achieves the best balance of accuracy + interpretability.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8869680" y="8046720"/>
            <a:ext cx="8778240" cy="1097280"/>
            <a:chOff x="0" y="0"/>
            <a:chExt cx="11704320" cy="14630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17043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1170432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0F172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CNN models attend to broader, less precise regions.</a:t>
              </a:r>
            </a:p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0F172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Transformer models focus on clinically relevant kidney structures.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0" y="9692640"/>
            <a:ext cx="18288000" cy="585216"/>
            <a:chOff x="0" y="0"/>
            <a:chExt cx="24384000" cy="78028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4384000" cy="780288"/>
            </a:xfrm>
            <a:custGeom>
              <a:avLst/>
              <a:gdLst/>
              <a:ahLst/>
              <a:cxnLst/>
              <a:rect r="r" b="b" t="t" l="l"/>
              <a:pathLst>
                <a:path h="7802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5544800" cy="1371600"/>
            <a:chOff x="0" y="0"/>
            <a:chExt cx="2072640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072640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VISION TRANSFORMER (ViT) ARCHITECTURE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910560" y="91440"/>
            <a:ext cx="1645920" cy="1060704"/>
            <a:chOff x="0" y="0"/>
            <a:chExt cx="2194560" cy="141427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19456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194560">
                  <a:moveTo>
                    <a:pt x="127000" y="0"/>
                  </a:moveTo>
                  <a:lnTo>
                    <a:pt x="2067560" y="0"/>
                  </a:lnTo>
                  <a:cubicBezTo>
                    <a:pt x="2137700" y="0"/>
                    <a:pt x="2194560" y="56860"/>
                    <a:pt x="2194560" y="127000"/>
                  </a:cubicBezTo>
                  <a:lnTo>
                    <a:pt x="2194560" y="1287272"/>
                  </a:lnTo>
                  <a:cubicBezTo>
                    <a:pt x="2194560" y="1320955"/>
                    <a:pt x="2181180" y="1353257"/>
                    <a:pt x="2157363" y="1377075"/>
                  </a:cubicBezTo>
                  <a:cubicBezTo>
                    <a:pt x="2133546" y="1400892"/>
                    <a:pt x="2101242" y="1414272"/>
                    <a:pt x="2067560" y="1414272"/>
                  </a:cubicBezTo>
                  <a:lnTo>
                    <a:pt x="127000" y="1414272"/>
                  </a:lnTo>
                  <a:cubicBezTo>
                    <a:pt x="93318" y="1414272"/>
                    <a:pt x="61015" y="1400892"/>
                    <a:pt x="37197" y="1377075"/>
                  </a:cubicBezTo>
                  <a:cubicBezTo>
                    <a:pt x="13380" y="1353257"/>
                    <a:pt x="0" y="1320955"/>
                    <a:pt x="0" y="1287272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42" r="0" b="-14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65760" y="1828800"/>
            <a:ext cx="2651760" cy="2194560"/>
            <a:chOff x="0" y="0"/>
            <a:chExt cx="3535680" cy="29260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5356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65760" y="1828800"/>
            <a:ext cx="2651760" cy="2194560"/>
            <a:chOff x="0" y="0"/>
            <a:chExt cx="3535680" cy="2926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5356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6182" t="0" r="-56182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535680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Image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224×224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992117" y="2900677"/>
            <a:ext cx="690877" cy="50797"/>
            <a:chOff x="0" y="0"/>
            <a:chExt cx="921169" cy="677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33909" y="0"/>
              <a:ext cx="853440" cy="67691"/>
            </a:xfrm>
            <a:custGeom>
              <a:avLst/>
              <a:gdLst/>
              <a:ahLst/>
              <a:cxnLst/>
              <a:rect r="r" b="b" t="t" l="l"/>
              <a:pathLst>
                <a:path h="67691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291840" y="1828800"/>
            <a:ext cx="2651760" cy="2194560"/>
            <a:chOff x="0" y="0"/>
            <a:chExt cx="3535680" cy="2926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5356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291840" y="1828800"/>
            <a:ext cx="2651760" cy="2194560"/>
            <a:chOff x="0" y="0"/>
            <a:chExt cx="3535680" cy="2926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5356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6182" t="0" r="-5618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535680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Patch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Embedding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16×16 patches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918197" y="2900677"/>
            <a:ext cx="690877" cy="50797"/>
            <a:chOff x="0" y="0"/>
            <a:chExt cx="921169" cy="6772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33909" y="0"/>
              <a:ext cx="853440" cy="67691"/>
            </a:xfrm>
            <a:custGeom>
              <a:avLst/>
              <a:gdLst/>
              <a:ahLst/>
              <a:cxnLst/>
              <a:rect r="r" b="b" t="t" l="l"/>
              <a:pathLst>
                <a:path h="67691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217920" y="1828800"/>
            <a:ext cx="2651760" cy="2194560"/>
            <a:chOff x="0" y="0"/>
            <a:chExt cx="3535680" cy="29260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5356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217920" y="1828800"/>
            <a:ext cx="2651760" cy="2194560"/>
            <a:chOff x="0" y="0"/>
            <a:chExt cx="3535680" cy="29260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5356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6182" t="0" r="-56182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535680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CLS Token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 Positional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Encoding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844277" y="2900677"/>
            <a:ext cx="690877" cy="50797"/>
            <a:chOff x="0" y="0"/>
            <a:chExt cx="921169" cy="6772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33909" y="0"/>
              <a:ext cx="853440" cy="67691"/>
            </a:xfrm>
            <a:custGeom>
              <a:avLst/>
              <a:gdLst/>
              <a:ahLst/>
              <a:cxnLst/>
              <a:rect r="r" b="b" t="t" l="l"/>
              <a:pathLst>
                <a:path h="67691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144000" y="1828800"/>
            <a:ext cx="2651760" cy="2194560"/>
            <a:chOff x="0" y="0"/>
            <a:chExt cx="3535680" cy="29260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5356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144000" y="1828800"/>
            <a:ext cx="2651760" cy="2194560"/>
            <a:chOff x="0" y="0"/>
            <a:chExt cx="3535680" cy="29260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5356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6182" t="0" r="-56182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3535680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Transformer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Encoder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Blocks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770357" y="2900677"/>
            <a:ext cx="690877" cy="50797"/>
            <a:chOff x="0" y="0"/>
            <a:chExt cx="921169" cy="6772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33909" y="0"/>
              <a:ext cx="853440" cy="67691"/>
            </a:xfrm>
            <a:custGeom>
              <a:avLst/>
              <a:gdLst/>
              <a:ahLst/>
              <a:cxnLst/>
              <a:rect r="r" b="b" t="t" l="l"/>
              <a:pathLst>
                <a:path h="67691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070080" y="1828800"/>
            <a:ext cx="2651760" cy="2194560"/>
            <a:chOff x="0" y="0"/>
            <a:chExt cx="3535680" cy="29260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5356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070080" y="1828800"/>
            <a:ext cx="2651760" cy="2194560"/>
            <a:chOff x="0" y="0"/>
            <a:chExt cx="3535680" cy="29260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5356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6182" t="0" r="-56182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3535680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CLS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Token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696437" y="2900677"/>
            <a:ext cx="690877" cy="50797"/>
            <a:chOff x="0" y="0"/>
            <a:chExt cx="921169" cy="6772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33909" y="0"/>
              <a:ext cx="853440" cy="67691"/>
            </a:xfrm>
            <a:custGeom>
              <a:avLst/>
              <a:gdLst/>
              <a:ahLst/>
              <a:cxnLst/>
              <a:rect r="r" b="b" t="t" l="l"/>
              <a:pathLst>
                <a:path h="67691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4996160" y="1828800"/>
            <a:ext cx="2651760" cy="2194560"/>
            <a:chOff x="0" y="0"/>
            <a:chExt cx="3535680" cy="29260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5356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4996160" y="1828800"/>
            <a:ext cx="2651760" cy="2194560"/>
            <a:chOff x="0" y="0"/>
            <a:chExt cx="3535680" cy="29260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5356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6182" t="0" r="-56182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3535680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Softmax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Classifier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 classes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444503" y="4559303"/>
            <a:ext cx="5511803" cy="3865883"/>
            <a:chOff x="0" y="0"/>
            <a:chExt cx="7349071" cy="515451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6891" y="16891"/>
              <a:ext cx="731520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348982" cy="5154422"/>
            </a:xfrm>
            <a:custGeom>
              <a:avLst/>
              <a:gdLst/>
              <a:ahLst/>
              <a:cxnLst/>
              <a:rect r="r" b="b" t="t" l="l"/>
              <a:pathLst>
                <a:path h="515442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5137531"/>
                  </a:lnTo>
                  <a:cubicBezTo>
                    <a:pt x="7348982" y="5146929"/>
                    <a:pt x="7341362" y="5154422"/>
                    <a:pt x="733209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7332091" y="5120640"/>
                  </a:lnTo>
                  <a:lnTo>
                    <a:pt x="7332091" y="5137531"/>
                  </a:lnTo>
                  <a:lnTo>
                    <a:pt x="7315200" y="513753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457200" y="4572000"/>
            <a:ext cx="5486400" cy="128016"/>
            <a:chOff x="0" y="0"/>
            <a:chExt cx="7315200" cy="17068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315200" cy="170688"/>
            </a:xfrm>
            <a:custGeom>
              <a:avLst/>
              <a:gdLst/>
              <a:ahLst/>
              <a:cxnLst/>
              <a:rect r="r" b="b" t="t" l="l"/>
              <a:pathLst>
                <a:path h="17068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676656" y="4754880"/>
            <a:ext cx="5120640" cy="548640"/>
            <a:chOff x="0" y="0"/>
            <a:chExt cx="6827520" cy="731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6827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Patch Embedding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76656" y="5394960"/>
            <a:ext cx="5120640" cy="768096"/>
            <a:chOff x="0" y="0"/>
            <a:chExt cx="6827520" cy="102412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827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682752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224×224 image → 196 patches (16×16 each)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76656" y="6163056"/>
            <a:ext cx="5120640" cy="768096"/>
            <a:chOff x="0" y="0"/>
            <a:chExt cx="6827520" cy="102412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827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682752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Linear projection to fixed embedding dim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76656" y="6931152"/>
            <a:ext cx="5120640" cy="768096"/>
            <a:chOff x="0" y="0"/>
            <a:chExt cx="6827520" cy="102412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827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682752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Sequence of patch embeddings created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6296663" y="4559303"/>
            <a:ext cx="5511803" cy="3865883"/>
            <a:chOff x="0" y="0"/>
            <a:chExt cx="7349071" cy="515451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16891" y="16891"/>
              <a:ext cx="731520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348982" cy="5154422"/>
            </a:xfrm>
            <a:custGeom>
              <a:avLst/>
              <a:gdLst/>
              <a:ahLst/>
              <a:cxnLst/>
              <a:rect r="r" b="b" t="t" l="l"/>
              <a:pathLst>
                <a:path h="515442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5137531"/>
                  </a:lnTo>
                  <a:cubicBezTo>
                    <a:pt x="7348982" y="5146929"/>
                    <a:pt x="7341362" y="5154422"/>
                    <a:pt x="733209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7332091" y="5120640"/>
                  </a:lnTo>
                  <a:lnTo>
                    <a:pt x="7332091" y="5137531"/>
                  </a:lnTo>
                  <a:lnTo>
                    <a:pt x="7315200" y="513753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6309360" y="4572000"/>
            <a:ext cx="5486400" cy="128016"/>
            <a:chOff x="0" y="0"/>
            <a:chExt cx="7315200" cy="17068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315200" cy="170688"/>
            </a:xfrm>
            <a:custGeom>
              <a:avLst/>
              <a:gdLst/>
              <a:ahLst/>
              <a:cxnLst/>
              <a:rect r="r" b="b" t="t" l="l"/>
              <a:pathLst>
                <a:path h="17068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6528816" y="4754880"/>
            <a:ext cx="5120640" cy="548640"/>
            <a:chOff x="0" y="0"/>
            <a:chExt cx="6827520" cy="73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6827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Encoder Block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528816" y="5394960"/>
            <a:ext cx="5120640" cy="768096"/>
            <a:chOff x="0" y="0"/>
            <a:chExt cx="6827520" cy="102412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827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682752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Multi-head self-attention (global)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6528816" y="6163056"/>
            <a:ext cx="5120640" cy="768096"/>
            <a:chOff x="0" y="0"/>
            <a:chExt cx="6827520" cy="102412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827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682752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Layer normalization for stability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6528816" y="6931152"/>
            <a:ext cx="5120640" cy="768096"/>
            <a:chOff x="0" y="0"/>
            <a:chExt cx="6827520" cy="102412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827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682752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FFN with GELU activation + residual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2148823" y="4559303"/>
            <a:ext cx="5511803" cy="3865883"/>
            <a:chOff x="0" y="0"/>
            <a:chExt cx="7349071" cy="515451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731520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7348982" cy="5154422"/>
            </a:xfrm>
            <a:custGeom>
              <a:avLst/>
              <a:gdLst/>
              <a:ahLst/>
              <a:cxnLst/>
              <a:rect r="r" b="b" t="t" l="l"/>
              <a:pathLst>
                <a:path h="515442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5137531"/>
                  </a:lnTo>
                  <a:cubicBezTo>
                    <a:pt x="7348982" y="5146929"/>
                    <a:pt x="7341362" y="5154422"/>
                    <a:pt x="733209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7332091" y="5120640"/>
                  </a:lnTo>
                  <a:lnTo>
                    <a:pt x="7332091" y="5137531"/>
                  </a:lnTo>
                  <a:lnTo>
                    <a:pt x="7315200" y="513753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2161520" y="4572000"/>
            <a:ext cx="5486400" cy="128016"/>
            <a:chOff x="0" y="0"/>
            <a:chExt cx="7315200" cy="17068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7315200" cy="170688"/>
            </a:xfrm>
            <a:custGeom>
              <a:avLst/>
              <a:gdLst/>
              <a:ahLst/>
              <a:cxnLst/>
              <a:rect r="r" b="b" t="t" l="l"/>
              <a:pathLst>
                <a:path h="17068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2380976" y="4754880"/>
            <a:ext cx="5120640" cy="548640"/>
            <a:chOff x="0" y="0"/>
            <a:chExt cx="6827520" cy="73152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6827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Classification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2380976" y="5394960"/>
            <a:ext cx="5120640" cy="768096"/>
            <a:chOff x="0" y="0"/>
            <a:chExt cx="6827520" cy="102412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6827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682752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CLS token aggregates global info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2380976" y="6163056"/>
            <a:ext cx="5120640" cy="768096"/>
            <a:chOff x="0" y="0"/>
            <a:chExt cx="6827520" cy="1024128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6827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682752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Fully connected + softmax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2380976" y="6931152"/>
            <a:ext cx="5120640" cy="768096"/>
            <a:chOff x="0" y="0"/>
            <a:chExt cx="6827520" cy="1024128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6827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682752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 classes: Cyst, Normal, Stone, Tumor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353063" y="8582663"/>
            <a:ext cx="17581883" cy="939803"/>
            <a:chOff x="0" y="0"/>
            <a:chExt cx="23442511" cy="1253071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16891" y="16891"/>
              <a:ext cx="23408639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ECFDF5"/>
            </a:solidFill>
          </p:spPr>
        </p:sp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3442422" cy="1252984"/>
            </a:xfrm>
            <a:custGeom>
              <a:avLst/>
              <a:gdLst/>
              <a:ahLst/>
              <a:cxnLst/>
              <a:rect r="r" b="b" t="t" l="l"/>
              <a:pathLst>
                <a:path h="1252984" w="23442422">
                  <a:moveTo>
                    <a:pt x="16891" y="0"/>
                  </a:moveTo>
                  <a:lnTo>
                    <a:pt x="23425530" y="0"/>
                  </a:lnTo>
                  <a:cubicBezTo>
                    <a:pt x="23434929" y="0"/>
                    <a:pt x="23442422" y="7620"/>
                    <a:pt x="23442422" y="16891"/>
                  </a:cubicBezTo>
                  <a:lnTo>
                    <a:pt x="23442422" y="1236091"/>
                  </a:lnTo>
                  <a:cubicBezTo>
                    <a:pt x="23442422" y="1245489"/>
                    <a:pt x="23434802" y="1252982"/>
                    <a:pt x="23425530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23425530" y="1219200"/>
                  </a:lnTo>
                  <a:lnTo>
                    <a:pt x="23425530" y="1236091"/>
                  </a:lnTo>
                  <a:lnTo>
                    <a:pt x="23408639" y="1236091"/>
                  </a:lnTo>
                  <a:lnTo>
                    <a:pt x="23408639" y="16891"/>
                  </a:lnTo>
                  <a:lnTo>
                    <a:pt x="23425530" y="16891"/>
                  </a:lnTo>
                  <a:lnTo>
                    <a:pt x="234255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640080" y="8595360"/>
            <a:ext cx="17007840" cy="914400"/>
            <a:chOff x="0" y="0"/>
            <a:chExt cx="22677120" cy="121920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2677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2421" r="0" b="-312421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47625"/>
              <a:ext cx="2267712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ViT achieves 99.37% accuracy highest among all 6 models by leveraging global self-attention to capture long-range dependencies in CT anatomy.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46304"/>
            <a:chOff x="0" y="0"/>
            <a:chExt cx="24384000" cy="1950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1DB95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40696"/>
            <a:ext cx="18288000" cy="146304"/>
            <a:chOff x="0" y="0"/>
            <a:chExt cx="24384000" cy="1950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1DB95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146304"/>
            <a:ext cx="219456" cy="9994392"/>
            <a:chOff x="0" y="0"/>
            <a:chExt cx="292608" cy="133258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2608" cy="13325856"/>
            </a:xfrm>
            <a:custGeom>
              <a:avLst/>
              <a:gdLst/>
              <a:ahLst/>
              <a:cxnLst/>
              <a:rect r="r" b="b" t="t" l="l"/>
              <a:pathLst>
                <a:path h="13325856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325856"/>
                  </a:lnTo>
                  <a:lnTo>
                    <a:pt x="0" y="13325856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0080" y="452202"/>
            <a:ext cx="17007840" cy="1287063"/>
            <a:chOff x="0" y="0"/>
            <a:chExt cx="22677120" cy="17160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77120" cy="1716084"/>
            </a:xfrm>
            <a:custGeom>
              <a:avLst/>
              <a:gdLst/>
              <a:ahLst/>
              <a:cxnLst/>
              <a:rect r="r" b="b" t="t" l="l"/>
              <a:pathLst>
                <a:path h="1716084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716084"/>
                  </a:lnTo>
                  <a:lnTo>
                    <a:pt x="0" y="17160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8409" r="0" b="-19655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42875"/>
              <a:ext cx="22677120" cy="18589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79"/>
                </a:lnSpc>
              </a:pPr>
              <a:r>
                <a:rPr lang="en-US" sz="6399" b="true">
                  <a:solidFill>
                    <a:srgbClr val="1DB95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42287" y="2015490"/>
            <a:ext cx="8425177" cy="2024377"/>
            <a:chOff x="0" y="0"/>
            <a:chExt cx="11233569" cy="26991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8509" y="8509"/>
              <a:ext cx="112166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D2B1A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233658" cy="2699258"/>
            </a:xfrm>
            <a:custGeom>
              <a:avLst/>
              <a:gdLst/>
              <a:ahLst/>
              <a:cxnLst/>
              <a:rect r="r" b="b" t="t" l="l"/>
              <a:pathLst>
                <a:path h="2699258" w="11233658">
                  <a:moveTo>
                    <a:pt x="8509" y="0"/>
                  </a:moveTo>
                  <a:lnTo>
                    <a:pt x="11225149" y="0"/>
                  </a:lnTo>
                  <a:cubicBezTo>
                    <a:pt x="11229848" y="0"/>
                    <a:pt x="11233658" y="3810"/>
                    <a:pt x="11233658" y="8509"/>
                  </a:cubicBezTo>
                  <a:lnTo>
                    <a:pt x="11233658" y="2690749"/>
                  </a:lnTo>
                  <a:cubicBezTo>
                    <a:pt x="11233658" y="2695448"/>
                    <a:pt x="11229848" y="2699258"/>
                    <a:pt x="11225149" y="2699258"/>
                  </a:cubicBezTo>
                  <a:lnTo>
                    <a:pt x="8509" y="2699258"/>
                  </a:lnTo>
                  <a:cubicBezTo>
                    <a:pt x="3810" y="2699258"/>
                    <a:pt x="0" y="2695448"/>
                    <a:pt x="0" y="26907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690749"/>
                  </a:lnTo>
                  <a:lnTo>
                    <a:pt x="8509" y="2690749"/>
                  </a:lnTo>
                  <a:lnTo>
                    <a:pt x="8509" y="2682240"/>
                  </a:lnTo>
                  <a:lnTo>
                    <a:pt x="11225149" y="2682240"/>
                  </a:lnTo>
                  <a:lnTo>
                    <a:pt x="11225149" y="2690749"/>
                  </a:lnTo>
                  <a:lnTo>
                    <a:pt x="11216640" y="2690749"/>
                  </a:lnTo>
                  <a:lnTo>
                    <a:pt x="11216640" y="8509"/>
                  </a:lnTo>
                  <a:lnTo>
                    <a:pt x="11225149" y="8509"/>
                  </a:lnTo>
                  <a:lnTo>
                    <a:pt x="11225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1920240"/>
            <a:ext cx="1097280" cy="1463040"/>
            <a:chOff x="0" y="0"/>
            <a:chExt cx="1463040" cy="1950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1071" t="0" r="-121071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1463040" cy="2026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103120" y="2168147"/>
            <a:ext cx="6583680" cy="1645920"/>
            <a:chOff x="0" y="0"/>
            <a:chExt cx="8778240" cy="21945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7782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877824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C4E8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12,446 CT images annotated covering cyst, tumor, stone and normal — publicly released on Kaggle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411967" y="2015490"/>
            <a:ext cx="8425177" cy="2024377"/>
            <a:chOff x="0" y="0"/>
            <a:chExt cx="11233569" cy="269916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8509" y="8509"/>
              <a:ext cx="112166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D2B1A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233658" cy="2699258"/>
            </a:xfrm>
            <a:custGeom>
              <a:avLst/>
              <a:gdLst/>
              <a:ahLst/>
              <a:cxnLst/>
              <a:rect r="r" b="b" t="t" l="l"/>
              <a:pathLst>
                <a:path h="2699258" w="11233658">
                  <a:moveTo>
                    <a:pt x="8509" y="0"/>
                  </a:moveTo>
                  <a:lnTo>
                    <a:pt x="11225149" y="0"/>
                  </a:lnTo>
                  <a:cubicBezTo>
                    <a:pt x="11229848" y="0"/>
                    <a:pt x="11233658" y="3810"/>
                    <a:pt x="11233658" y="8509"/>
                  </a:cubicBezTo>
                  <a:lnTo>
                    <a:pt x="11233658" y="2690749"/>
                  </a:lnTo>
                  <a:cubicBezTo>
                    <a:pt x="11233658" y="2695448"/>
                    <a:pt x="11229848" y="2699258"/>
                    <a:pt x="11225149" y="2699258"/>
                  </a:cubicBezTo>
                  <a:lnTo>
                    <a:pt x="8509" y="2699258"/>
                  </a:lnTo>
                  <a:cubicBezTo>
                    <a:pt x="3810" y="2699258"/>
                    <a:pt x="0" y="2695448"/>
                    <a:pt x="0" y="26907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690749"/>
                  </a:lnTo>
                  <a:lnTo>
                    <a:pt x="8509" y="2690749"/>
                  </a:lnTo>
                  <a:lnTo>
                    <a:pt x="8509" y="2682240"/>
                  </a:lnTo>
                  <a:lnTo>
                    <a:pt x="11225149" y="2682240"/>
                  </a:lnTo>
                  <a:lnTo>
                    <a:pt x="11225149" y="2690749"/>
                  </a:lnTo>
                  <a:lnTo>
                    <a:pt x="11216640" y="2690749"/>
                  </a:lnTo>
                  <a:lnTo>
                    <a:pt x="11216640" y="8509"/>
                  </a:lnTo>
                  <a:lnTo>
                    <a:pt x="11225149" y="8509"/>
                  </a:lnTo>
                  <a:lnTo>
                    <a:pt x="11225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692640" y="2204723"/>
            <a:ext cx="1097280" cy="1463040"/>
            <a:chOff x="0" y="0"/>
            <a:chExt cx="1463040" cy="1950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630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1071" t="0" r="-121071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1463040" cy="2026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972800" y="2168147"/>
            <a:ext cx="6583680" cy="1645920"/>
            <a:chOff x="0" y="0"/>
            <a:chExt cx="8778240" cy="21945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7782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877824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C4E8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Vision Transformer (ViT) achieved best accuracy of 99.37%, surpassing all CNN and other transformer architectures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42287" y="4301490"/>
            <a:ext cx="8425177" cy="2024377"/>
            <a:chOff x="0" y="0"/>
            <a:chExt cx="11233569" cy="269916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8509" y="8509"/>
              <a:ext cx="112166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D2B1A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233658" cy="2699258"/>
            </a:xfrm>
            <a:custGeom>
              <a:avLst/>
              <a:gdLst/>
              <a:ahLst/>
              <a:cxnLst/>
              <a:rect r="r" b="b" t="t" l="l"/>
              <a:pathLst>
                <a:path h="2699258" w="11233658">
                  <a:moveTo>
                    <a:pt x="8509" y="0"/>
                  </a:moveTo>
                  <a:lnTo>
                    <a:pt x="11225149" y="0"/>
                  </a:lnTo>
                  <a:cubicBezTo>
                    <a:pt x="11229848" y="0"/>
                    <a:pt x="11233658" y="3810"/>
                    <a:pt x="11233658" y="8509"/>
                  </a:cubicBezTo>
                  <a:lnTo>
                    <a:pt x="11233658" y="2690749"/>
                  </a:lnTo>
                  <a:cubicBezTo>
                    <a:pt x="11233658" y="2695448"/>
                    <a:pt x="11229848" y="2699258"/>
                    <a:pt x="11225149" y="2699258"/>
                  </a:cubicBezTo>
                  <a:lnTo>
                    <a:pt x="8509" y="2699258"/>
                  </a:lnTo>
                  <a:cubicBezTo>
                    <a:pt x="3810" y="2699258"/>
                    <a:pt x="0" y="2695448"/>
                    <a:pt x="0" y="26907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690749"/>
                  </a:lnTo>
                  <a:lnTo>
                    <a:pt x="8509" y="2690749"/>
                  </a:lnTo>
                  <a:lnTo>
                    <a:pt x="8509" y="2682240"/>
                  </a:lnTo>
                  <a:lnTo>
                    <a:pt x="11225149" y="2682240"/>
                  </a:lnTo>
                  <a:lnTo>
                    <a:pt x="11225149" y="2690749"/>
                  </a:lnTo>
                  <a:lnTo>
                    <a:pt x="11216640" y="2690749"/>
                  </a:lnTo>
                  <a:lnTo>
                    <a:pt x="11216640" y="8509"/>
                  </a:lnTo>
                  <a:lnTo>
                    <a:pt x="11225149" y="8509"/>
                  </a:lnTo>
                  <a:lnTo>
                    <a:pt x="11225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22960" y="4206240"/>
            <a:ext cx="1097280" cy="1463040"/>
            <a:chOff x="0" y="0"/>
            <a:chExt cx="1463040" cy="19507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630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1071" t="0" r="-121071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76200"/>
              <a:ext cx="1463040" cy="2026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103120" y="4454147"/>
            <a:ext cx="6583680" cy="1645920"/>
            <a:chOff x="0" y="0"/>
            <a:chExt cx="8778240" cy="21945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7782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877824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C4E8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DINO provides superior interpretability via self-supervised attention, enabling precise Grad-CAM localization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411967" y="4301490"/>
            <a:ext cx="8425177" cy="2024377"/>
            <a:chOff x="0" y="0"/>
            <a:chExt cx="11233569" cy="269916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8509" y="8509"/>
              <a:ext cx="112166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D2B1A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233658" cy="2699258"/>
            </a:xfrm>
            <a:custGeom>
              <a:avLst/>
              <a:gdLst/>
              <a:ahLst/>
              <a:cxnLst/>
              <a:rect r="r" b="b" t="t" l="l"/>
              <a:pathLst>
                <a:path h="2699258" w="11233658">
                  <a:moveTo>
                    <a:pt x="8509" y="0"/>
                  </a:moveTo>
                  <a:lnTo>
                    <a:pt x="11225149" y="0"/>
                  </a:lnTo>
                  <a:cubicBezTo>
                    <a:pt x="11229848" y="0"/>
                    <a:pt x="11233658" y="3810"/>
                    <a:pt x="11233658" y="8509"/>
                  </a:cubicBezTo>
                  <a:lnTo>
                    <a:pt x="11233658" y="2690749"/>
                  </a:lnTo>
                  <a:cubicBezTo>
                    <a:pt x="11233658" y="2695448"/>
                    <a:pt x="11229848" y="2699258"/>
                    <a:pt x="11225149" y="2699258"/>
                  </a:cubicBezTo>
                  <a:lnTo>
                    <a:pt x="8509" y="2699258"/>
                  </a:lnTo>
                  <a:cubicBezTo>
                    <a:pt x="3810" y="2699258"/>
                    <a:pt x="0" y="2695448"/>
                    <a:pt x="0" y="26907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690749"/>
                  </a:lnTo>
                  <a:lnTo>
                    <a:pt x="8509" y="2690749"/>
                  </a:lnTo>
                  <a:lnTo>
                    <a:pt x="8509" y="2682240"/>
                  </a:lnTo>
                  <a:lnTo>
                    <a:pt x="11225149" y="2682240"/>
                  </a:lnTo>
                  <a:lnTo>
                    <a:pt x="11225149" y="2690749"/>
                  </a:lnTo>
                  <a:lnTo>
                    <a:pt x="11216640" y="2690749"/>
                  </a:lnTo>
                  <a:lnTo>
                    <a:pt x="11216640" y="8509"/>
                  </a:lnTo>
                  <a:lnTo>
                    <a:pt x="11225149" y="8509"/>
                  </a:lnTo>
                  <a:lnTo>
                    <a:pt x="11225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692640" y="4490723"/>
            <a:ext cx="1097280" cy="1463040"/>
            <a:chOff x="0" y="0"/>
            <a:chExt cx="1463040" cy="19507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4630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1071" t="0" r="-121071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76200"/>
              <a:ext cx="1463040" cy="2026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972800" y="4454147"/>
            <a:ext cx="6583680" cy="1645920"/>
            <a:chOff x="0" y="0"/>
            <a:chExt cx="8778240" cy="21945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7782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877824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C4E8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Transformer-based models significantly outperform CNNs on F1, precision, recall, and AUC metrics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42287" y="6587490"/>
            <a:ext cx="8425177" cy="2024377"/>
            <a:chOff x="0" y="0"/>
            <a:chExt cx="11233569" cy="269916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8509" y="8509"/>
              <a:ext cx="112166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D2B1A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233658" cy="2699258"/>
            </a:xfrm>
            <a:custGeom>
              <a:avLst/>
              <a:gdLst/>
              <a:ahLst/>
              <a:cxnLst/>
              <a:rect r="r" b="b" t="t" l="l"/>
              <a:pathLst>
                <a:path h="2699258" w="11233658">
                  <a:moveTo>
                    <a:pt x="8509" y="0"/>
                  </a:moveTo>
                  <a:lnTo>
                    <a:pt x="11225149" y="0"/>
                  </a:lnTo>
                  <a:cubicBezTo>
                    <a:pt x="11229848" y="0"/>
                    <a:pt x="11233658" y="3810"/>
                    <a:pt x="11233658" y="8509"/>
                  </a:cubicBezTo>
                  <a:lnTo>
                    <a:pt x="11233658" y="2690749"/>
                  </a:lnTo>
                  <a:cubicBezTo>
                    <a:pt x="11233658" y="2695448"/>
                    <a:pt x="11229848" y="2699258"/>
                    <a:pt x="11225149" y="2699258"/>
                  </a:cubicBezTo>
                  <a:lnTo>
                    <a:pt x="8509" y="2699258"/>
                  </a:lnTo>
                  <a:cubicBezTo>
                    <a:pt x="3810" y="2699258"/>
                    <a:pt x="0" y="2695448"/>
                    <a:pt x="0" y="26907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690749"/>
                  </a:lnTo>
                  <a:lnTo>
                    <a:pt x="8509" y="2690749"/>
                  </a:lnTo>
                  <a:lnTo>
                    <a:pt x="8509" y="2682240"/>
                  </a:lnTo>
                  <a:lnTo>
                    <a:pt x="11225149" y="2682240"/>
                  </a:lnTo>
                  <a:lnTo>
                    <a:pt x="11225149" y="2690749"/>
                  </a:lnTo>
                  <a:lnTo>
                    <a:pt x="11216640" y="2690749"/>
                  </a:lnTo>
                  <a:lnTo>
                    <a:pt x="11216640" y="8509"/>
                  </a:lnTo>
                  <a:lnTo>
                    <a:pt x="11225149" y="8509"/>
                  </a:lnTo>
                  <a:lnTo>
                    <a:pt x="11225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2103120" y="6740147"/>
            <a:ext cx="6583680" cy="1645920"/>
            <a:chOff x="0" y="0"/>
            <a:chExt cx="8778240" cy="21945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7782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877824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C4E8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Framework suitable for real-world clinical deployment, assisting radiologists in early kidney disease diagnosis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411967" y="6587490"/>
            <a:ext cx="8425177" cy="2024377"/>
            <a:chOff x="0" y="0"/>
            <a:chExt cx="11233569" cy="269916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8509" y="8509"/>
              <a:ext cx="112166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D2B1A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233658" cy="2699258"/>
            </a:xfrm>
            <a:custGeom>
              <a:avLst/>
              <a:gdLst/>
              <a:ahLst/>
              <a:cxnLst/>
              <a:rect r="r" b="b" t="t" l="l"/>
              <a:pathLst>
                <a:path h="2699258" w="11233658">
                  <a:moveTo>
                    <a:pt x="8509" y="0"/>
                  </a:moveTo>
                  <a:lnTo>
                    <a:pt x="11225149" y="0"/>
                  </a:lnTo>
                  <a:cubicBezTo>
                    <a:pt x="11229848" y="0"/>
                    <a:pt x="11233658" y="3810"/>
                    <a:pt x="11233658" y="8509"/>
                  </a:cubicBezTo>
                  <a:lnTo>
                    <a:pt x="11233658" y="2690749"/>
                  </a:lnTo>
                  <a:cubicBezTo>
                    <a:pt x="11233658" y="2695448"/>
                    <a:pt x="11229848" y="2699258"/>
                    <a:pt x="11225149" y="2699258"/>
                  </a:cubicBezTo>
                  <a:lnTo>
                    <a:pt x="8509" y="2699258"/>
                  </a:lnTo>
                  <a:cubicBezTo>
                    <a:pt x="3810" y="2699258"/>
                    <a:pt x="0" y="2695448"/>
                    <a:pt x="0" y="26907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690749"/>
                  </a:lnTo>
                  <a:lnTo>
                    <a:pt x="8509" y="2690749"/>
                  </a:lnTo>
                  <a:lnTo>
                    <a:pt x="8509" y="2682240"/>
                  </a:lnTo>
                  <a:lnTo>
                    <a:pt x="11225149" y="2682240"/>
                  </a:lnTo>
                  <a:lnTo>
                    <a:pt x="11225149" y="2690749"/>
                  </a:lnTo>
                  <a:lnTo>
                    <a:pt x="11216640" y="2690749"/>
                  </a:lnTo>
                  <a:lnTo>
                    <a:pt x="11216640" y="8509"/>
                  </a:lnTo>
                  <a:lnTo>
                    <a:pt x="11225149" y="8509"/>
                  </a:lnTo>
                  <a:lnTo>
                    <a:pt x="11225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692640" y="6776723"/>
            <a:ext cx="1097280" cy="1463040"/>
            <a:chOff x="0" y="0"/>
            <a:chExt cx="1463040" cy="19507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4630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1071" t="0" r="-121071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76200"/>
              <a:ext cx="1463040" cy="2026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972800" y="6740147"/>
            <a:ext cx="6583680" cy="1645920"/>
            <a:chOff x="0" y="0"/>
            <a:chExt cx="8778240" cy="21945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7782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877824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C4E8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Work contributes towards building a digital twin of renal function at pathological level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24865" y="6547104"/>
            <a:ext cx="1097280" cy="1463040"/>
            <a:chOff x="0" y="0"/>
            <a:chExt cx="1463040" cy="19507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4630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1071" t="0" r="-121071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76200"/>
              <a:ext cx="1463040" cy="2026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40002" y="3494650"/>
            <a:ext cx="9207996" cy="2364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18"/>
              </a:lnSpc>
            </a:pPr>
            <a:r>
              <a:rPr lang="en-US" sz="13798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DAHFNoCf4gk</dc:identifier>
  <dcterms:modified xsi:type="dcterms:W3CDTF">2011-08-01T06:04:30Z</dcterms:modified>
  <cp:revision>1</cp:revision>
  <dc:title>Shirsh Mohan | Satwik Gupta | Swayam Kashyap | Saurabh Sharma | Soham Dey</dc:title>
</cp:coreProperties>
</file>